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4630400" cy="8229600"/>
  <p:notesSz cx="8229600" cy="14630400"/>
  <p:embeddedFontLst>
    <p:embeddedFont>
      <p:font typeface="Consolas" panose="020B0609020204030204" pitchFamily="49" charset="0"/>
      <p:regular r:id="rId23"/>
      <p:bold r:id="rId24"/>
      <p:italic r:id="rId25"/>
      <p:boldItalic r:id="rId26"/>
    </p:embeddedFont>
    <p:embeddedFont>
      <p:font typeface="Merriweather" panose="00000500000000000000" pitchFamily="2" charset="0"/>
      <p:regular r:id="rId27"/>
      <p:bold r:id="rId28"/>
    </p:embeddedFont>
    <p:embeddedFont>
      <p:font typeface="Merriweather Light" panose="00000400000000000000" pitchFamily="2" charset="0"/>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8" d="100"/>
          <a:sy n="68" d="100"/>
        </p:scale>
        <p:origin x="64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2610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8062" y="1155859"/>
            <a:ext cx="7767876" cy="3686175"/>
          </a:xfrm>
          <a:prstGeom prst="rect">
            <a:avLst/>
          </a:prstGeom>
          <a:noFill/>
          <a:ln/>
        </p:spPr>
        <p:txBody>
          <a:bodyPr wrap="square" lIns="0" tIns="0" rIns="0" bIns="0" rtlCol="0" anchor="t"/>
          <a:lstStyle/>
          <a:p>
            <a:pPr marL="0" indent="0" algn="l">
              <a:lnSpc>
                <a:spcPts val="9650"/>
              </a:lnSpc>
              <a:buNone/>
            </a:pPr>
            <a:r>
              <a:rPr lang="en-US" sz="7700" dirty="0">
                <a:solidFill>
                  <a:srgbClr val="F5F0F0"/>
                </a:solidFill>
                <a:latin typeface="Merriweather" pitchFamily="34" charset="0"/>
                <a:ea typeface="Merriweather" pitchFamily="34" charset="-122"/>
                <a:cs typeface="Merriweather" pitchFamily="34" charset="-120"/>
              </a:rPr>
              <a:t>Parallelizing Random Forest Training</a:t>
            </a:r>
            <a:endParaRPr lang="en-US" sz="7700" dirty="0"/>
          </a:p>
        </p:txBody>
      </p:sp>
      <p:sp>
        <p:nvSpPr>
          <p:cNvPr id="4" name="Text 1"/>
          <p:cNvSpPr/>
          <p:nvPr/>
        </p:nvSpPr>
        <p:spPr>
          <a:xfrm>
            <a:off x="688062" y="5136833"/>
            <a:ext cx="7767876" cy="393144"/>
          </a:xfrm>
          <a:prstGeom prst="rect">
            <a:avLst/>
          </a:prstGeom>
          <a:noFill/>
          <a:ln/>
        </p:spPr>
        <p:txBody>
          <a:bodyPr wrap="none" lIns="0" tIns="0" rIns="0" bIns="0" rtlCol="0" anchor="t"/>
          <a:lstStyle/>
          <a:p>
            <a:pPr marL="0" indent="0" algn="l">
              <a:lnSpc>
                <a:spcPts val="3050"/>
              </a:lnSpc>
              <a:buNone/>
            </a:pPr>
            <a:r>
              <a:rPr lang="en-US" sz="1900" dirty="0">
                <a:solidFill>
                  <a:srgbClr val="E2E6E9"/>
                </a:solidFill>
                <a:latin typeface="Merriweather" pitchFamily="34" charset="0"/>
                <a:ea typeface="Merriweather" pitchFamily="34" charset="-122"/>
                <a:cs typeface="Merriweather" pitchFamily="34" charset="-120"/>
              </a:rPr>
              <a:t>CSS 311 – Parallel and Distributed Computing</a:t>
            </a:r>
            <a:endParaRPr lang="en-US" sz="1900" dirty="0"/>
          </a:p>
        </p:txBody>
      </p:sp>
      <p:sp>
        <p:nvSpPr>
          <p:cNvPr id="5" name="Text 2"/>
          <p:cNvSpPr/>
          <p:nvPr/>
        </p:nvSpPr>
        <p:spPr>
          <a:xfrm>
            <a:off x="688062" y="5751076"/>
            <a:ext cx="7767876" cy="314444"/>
          </a:xfrm>
          <a:prstGeom prst="rect">
            <a:avLst/>
          </a:prstGeom>
          <a:noFill/>
          <a:ln/>
        </p:spPr>
        <p:txBody>
          <a:bodyPr wrap="none" lIns="0" tIns="0" rIns="0" bIns="0" rtlCol="0" anchor="t"/>
          <a:lstStyle/>
          <a:p>
            <a:pPr marL="0" indent="0" algn="l">
              <a:lnSpc>
                <a:spcPts val="2450"/>
              </a:lnSpc>
              <a:buNone/>
            </a:pPr>
            <a:r>
              <a:rPr lang="en-US" sz="1500" b="1" dirty="0">
                <a:solidFill>
                  <a:srgbClr val="E2E6E9"/>
                </a:solidFill>
                <a:latin typeface="Merriweather" pitchFamily="34" charset="0"/>
                <a:ea typeface="Merriweather" pitchFamily="34" charset="-122"/>
                <a:cs typeface="Merriweather" pitchFamily="34" charset="-120"/>
              </a:rPr>
              <a:t>Gutta Yuva Sai Vinay</a:t>
            </a:r>
            <a:r>
              <a:rPr lang="en-US" sz="1500" dirty="0">
                <a:solidFill>
                  <a:srgbClr val="E2E6E9"/>
                </a:solidFill>
                <a:latin typeface="Merriweather" pitchFamily="34" charset="0"/>
                <a:ea typeface="Merriweather" pitchFamily="34" charset="-122"/>
                <a:cs typeface="Merriweather" pitchFamily="34" charset="-120"/>
              </a:rPr>
              <a:t> (2023BCD0044)</a:t>
            </a:r>
            <a:endParaRPr lang="en-US" sz="1500" dirty="0"/>
          </a:p>
        </p:txBody>
      </p:sp>
      <p:sp>
        <p:nvSpPr>
          <p:cNvPr id="6" name="Text 3"/>
          <p:cNvSpPr/>
          <p:nvPr/>
        </p:nvSpPr>
        <p:spPr>
          <a:xfrm>
            <a:off x="688062" y="6286619"/>
            <a:ext cx="7767876" cy="314444"/>
          </a:xfrm>
          <a:prstGeom prst="rect">
            <a:avLst/>
          </a:prstGeom>
          <a:noFill/>
          <a:ln/>
        </p:spPr>
        <p:txBody>
          <a:bodyPr wrap="none" lIns="0" tIns="0" rIns="0" bIns="0" rtlCol="0" anchor="t"/>
          <a:lstStyle/>
          <a:p>
            <a:pPr marL="0" indent="0" algn="l">
              <a:lnSpc>
                <a:spcPts val="2450"/>
              </a:lnSpc>
              <a:buNone/>
            </a:pPr>
            <a:r>
              <a:rPr lang="en-US" sz="1500" b="1" dirty="0">
                <a:solidFill>
                  <a:srgbClr val="E2E6E9"/>
                </a:solidFill>
                <a:latin typeface="Merriweather" pitchFamily="34" charset="0"/>
                <a:ea typeface="Merriweather" pitchFamily="34" charset="-122"/>
                <a:cs typeface="Merriweather" pitchFamily="34" charset="-120"/>
              </a:rPr>
              <a:t>Koduri Siddhardha</a:t>
            </a:r>
            <a:r>
              <a:rPr lang="en-US" sz="1500" dirty="0">
                <a:solidFill>
                  <a:srgbClr val="E2E6E9"/>
                </a:solidFill>
                <a:latin typeface="Merriweather" pitchFamily="34" charset="0"/>
                <a:ea typeface="Merriweather" pitchFamily="34" charset="-122"/>
                <a:cs typeface="Merriweather" pitchFamily="34" charset="-120"/>
              </a:rPr>
              <a:t> (2023BCS0071)</a:t>
            </a:r>
            <a:endParaRPr lang="en-US" sz="1500" dirty="0"/>
          </a:p>
        </p:txBody>
      </p:sp>
      <p:sp>
        <p:nvSpPr>
          <p:cNvPr id="7" name="Text 4"/>
          <p:cNvSpPr/>
          <p:nvPr/>
        </p:nvSpPr>
        <p:spPr>
          <a:xfrm>
            <a:off x="688062" y="6822162"/>
            <a:ext cx="7767876" cy="251579"/>
          </a:xfrm>
          <a:prstGeom prst="rect">
            <a:avLst/>
          </a:prstGeom>
          <a:noFill/>
          <a:ln/>
        </p:spPr>
        <p:txBody>
          <a:bodyPr wrap="none" lIns="0" tIns="0" rIns="0" bIns="0" rtlCol="0" anchor="t"/>
          <a:lstStyle/>
          <a:p>
            <a:pPr marL="0" indent="0" algn="l">
              <a:lnSpc>
                <a:spcPts val="1950"/>
              </a:lnSpc>
              <a:buNone/>
            </a:pPr>
            <a:r>
              <a:rPr lang="en-US" sz="1200" dirty="0">
                <a:solidFill>
                  <a:srgbClr val="E2E6E9"/>
                </a:solidFill>
                <a:latin typeface="Merriweather" pitchFamily="34" charset="0"/>
                <a:ea typeface="Merriweather" pitchFamily="34" charset="-122"/>
                <a:cs typeface="Merriweather" pitchFamily="34" charset="-120"/>
              </a:rPr>
              <a:t>Instructor: Dr. John Paul Martin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889403"/>
            <a:ext cx="717280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What is Random Forest?</a:t>
            </a:r>
            <a:endParaRPr lang="en-US" sz="4850" dirty="0"/>
          </a:p>
        </p:txBody>
      </p:sp>
      <p:sp>
        <p:nvSpPr>
          <p:cNvPr id="3" name="Text 1"/>
          <p:cNvSpPr/>
          <p:nvPr/>
        </p:nvSpPr>
        <p:spPr>
          <a:xfrm>
            <a:off x="863798" y="3030855"/>
            <a:ext cx="1290280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Random Forest is an ensemble learning algorithm that builds multiple decision trees in parallel and combines their predictions. Each tree learns from a random subset of data and features, creating diversity that improves generalization. While powerful, training many trees sequentially is computationally expensive—making it an ideal candidate for parallelization.</a:t>
            </a:r>
            <a:endParaRPr lang="en-US" sz="1900" dirty="0"/>
          </a:p>
        </p:txBody>
      </p:sp>
      <p:sp>
        <p:nvSpPr>
          <p:cNvPr id="4" name="Shape 2"/>
          <p:cNvSpPr/>
          <p:nvPr/>
        </p:nvSpPr>
        <p:spPr>
          <a:xfrm>
            <a:off x="863798" y="4887754"/>
            <a:ext cx="4136350" cy="1452443"/>
          </a:xfrm>
          <a:prstGeom prst="roundRect">
            <a:avLst>
              <a:gd name="adj" fmla="val 7138"/>
            </a:avLst>
          </a:prstGeom>
          <a:solidFill>
            <a:srgbClr val="003180"/>
          </a:solidFill>
          <a:ln w="15240">
            <a:solidFill>
              <a:srgbClr val="194A99"/>
            </a:solidFill>
            <a:prstDash val="solid"/>
          </a:ln>
        </p:spPr>
      </p:sp>
      <p:sp>
        <p:nvSpPr>
          <p:cNvPr id="5" name="Text 3"/>
          <p:cNvSpPr/>
          <p:nvPr/>
        </p:nvSpPr>
        <p:spPr>
          <a:xfrm>
            <a:off x="1125855" y="514981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Ensemble Method</a:t>
            </a:r>
            <a:endParaRPr lang="en-US" sz="2400" dirty="0"/>
          </a:p>
        </p:txBody>
      </p:sp>
      <p:sp>
        <p:nvSpPr>
          <p:cNvPr id="6" name="Text 4"/>
          <p:cNvSpPr/>
          <p:nvPr/>
        </p:nvSpPr>
        <p:spPr>
          <a:xfrm>
            <a:off x="1125855" y="5683329"/>
            <a:ext cx="361223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Multiple trees voting</a:t>
            </a:r>
            <a:endParaRPr lang="en-US" sz="1900" dirty="0"/>
          </a:p>
        </p:txBody>
      </p:sp>
      <p:sp>
        <p:nvSpPr>
          <p:cNvPr id="7" name="Shape 5"/>
          <p:cNvSpPr/>
          <p:nvPr/>
        </p:nvSpPr>
        <p:spPr>
          <a:xfrm>
            <a:off x="5246965" y="4887754"/>
            <a:ext cx="4136350" cy="1452443"/>
          </a:xfrm>
          <a:prstGeom prst="roundRect">
            <a:avLst>
              <a:gd name="adj" fmla="val 7138"/>
            </a:avLst>
          </a:prstGeom>
          <a:solidFill>
            <a:srgbClr val="003180"/>
          </a:solidFill>
          <a:ln w="15240">
            <a:solidFill>
              <a:srgbClr val="194A99"/>
            </a:solidFill>
            <a:prstDash val="solid"/>
          </a:ln>
        </p:spPr>
      </p:sp>
      <p:sp>
        <p:nvSpPr>
          <p:cNvPr id="8" name="Text 6"/>
          <p:cNvSpPr/>
          <p:nvPr/>
        </p:nvSpPr>
        <p:spPr>
          <a:xfrm>
            <a:off x="5509022" y="514981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Time-Consuming</a:t>
            </a:r>
            <a:endParaRPr lang="en-US" sz="2400" dirty="0"/>
          </a:p>
        </p:txBody>
      </p:sp>
      <p:sp>
        <p:nvSpPr>
          <p:cNvPr id="9" name="Text 7"/>
          <p:cNvSpPr/>
          <p:nvPr/>
        </p:nvSpPr>
        <p:spPr>
          <a:xfrm>
            <a:off x="5509022" y="5683329"/>
            <a:ext cx="361223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Sequential bottleneck</a:t>
            </a:r>
            <a:endParaRPr lang="en-US" sz="1900" dirty="0"/>
          </a:p>
        </p:txBody>
      </p:sp>
      <p:sp>
        <p:nvSpPr>
          <p:cNvPr id="10" name="Shape 8"/>
          <p:cNvSpPr/>
          <p:nvPr/>
        </p:nvSpPr>
        <p:spPr>
          <a:xfrm>
            <a:off x="9630132" y="4887754"/>
            <a:ext cx="4136350" cy="1452443"/>
          </a:xfrm>
          <a:prstGeom prst="roundRect">
            <a:avLst>
              <a:gd name="adj" fmla="val 7138"/>
            </a:avLst>
          </a:prstGeom>
          <a:solidFill>
            <a:srgbClr val="003180"/>
          </a:solidFill>
          <a:ln w="15240">
            <a:solidFill>
              <a:srgbClr val="194A99"/>
            </a:solidFill>
            <a:prstDash val="solid"/>
          </a:ln>
        </p:spPr>
      </p:sp>
      <p:sp>
        <p:nvSpPr>
          <p:cNvPr id="11" name="Text 9"/>
          <p:cNvSpPr/>
          <p:nvPr/>
        </p:nvSpPr>
        <p:spPr>
          <a:xfrm>
            <a:off x="9892189" y="514981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Solution</a:t>
            </a:r>
            <a:endParaRPr lang="en-US" sz="2400" dirty="0"/>
          </a:p>
        </p:txBody>
      </p:sp>
      <p:sp>
        <p:nvSpPr>
          <p:cNvPr id="12" name="Text 10"/>
          <p:cNvSpPr/>
          <p:nvPr/>
        </p:nvSpPr>
        <p:spPr>
          <a:xfrm>
            <a:off x="9892189" y="5683329"/>
            <a:ext cx="361223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 acceleration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749498"/>
            <a:ext cx="11860887"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Motivation: Why Parallelization Matters</a:t>
            </a:r>
            <a:endParaRPr lang="en-US" sz="48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1898571"/>
            <a:ext cx="370165" cy="370165"/>
          </a:xfrm>
          <a:prstGeom prst="rect">
            <a:avLst/>
          </a:prstGeom>
        </p:spPr>
      </p:pic>
      <p:sp>
        <p:nvSpPr>
          <p:cNvPr id="4" name="Text 1"/>
          <p:cNvSpPr/>
          <p:nvPr/>
        </p:nvSpPr>
        <p:spPr>
          <a:xfrm>
            <a:off x="1665923" y="1890951"/>
            <a:ext cx="3915013"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Serial Training Bottleneck</a:t>
            </a:r>
            <a:endParaRPr lang="en-US" sz="2400" dirty="0"/>
          </a:p>
        </p:txBody>
      </p:sp>
      <p:sp>
        <p:nvSpPr>
          <p:cNvPr id="5" name="Text 2"/>
          <p:cNvSpPr/>
          <p:nvPr/>
        </p:nvSpPr>
        <p:spPr>
          <a:xfrm>
            <a:off x="1665923" y="2424470"/>
            <a:ext cx="12100679"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Sequential tree building causes significant delays on modern hardware with idle CPU cores.</a:t>
            </a:r>
            <a:endParaRPr lang="en-US" sz="190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3320534"/>
            <a:ext cx="370165" cy="370165"/>
          </a:xfrm>
          <a:prstGeom prst="rect">
            <a:avLst/>
          </a:prstGeom>
        </p:spPr>
      </p:pic>
      <p:sp>
        <p:nvSpPr>
          <p:cNvPr id="7" name="Text 3"/>
          <p:cNvSpPr/>
          <p:nvPr/>
        </p:nvSpPr>
        <p:spPr>
          <a:xfrm>
            <a:off x="1665923" y="3312914"/>
            <a:ext cx="3281005"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Multi-Core Utilization</a:t>
            </a:r>
            <a:endParaRPr lang="en-US" sz="2400" dirty="0"/>
          </a:p>
        </p:txBody>
      </p:sp>
      <p:sp>
        <p:nvSpPr>
          <p:cNvPr id="8" name="Text 4"/>
          <p:cNvSpPr/>
          <p:nvPr/>
        </p:nvSpPr>
        <p:spPr>
          <a:xfrm>
            <a:off x="1665923" y="3846433"/>
            <a:ext cx="12100679"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Modern processors have multiple cores; parallelism efficiently distributes computational workload across them.</a:t>
            </a:r>
            <a:endParaRPr lang="en-US" sz="190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5137309"/>
            <a:ext cx="370165" cy="370165"/>
          </a:xfrm>
          <a:prstGeom prst="rect">
            <a:avLst/>
          </a:prstGeom>
        </p:spPr>
      </p:pic>
      <p:sp>
        <p:nvSpPr>
          <p:cNvPr id="10" name="Text 5"/>
          <p:cNvSpPr/>
          <p:nvPr/>
        </p:nvSpPr>
        <p:spPr>
          <a:xfrm>
            <a:off x="1665923" y="5129689"/>
            <a:ext cx="3681651"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Reduced Execution Time</a:t>
            </a:r>
            <a:endParaRPr lang="en-US" sz="2400" dirty="0"/>
          </a:p>
        </p:txBody>
      </p:sp>
      <p:sp>
        <p:nvSpPr>
          <p:cNvPr id="11" name="Text 6"/>
          <p:cNvSpPr/>
          <p:nvPr/>
        </p:nvSpPr>
        <p:spPr>
          <a:xfrm>
            <a:off x="1665923" y="5663208"/>
            <a:ext cx="12100679"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Training multiple trees concurrently dramatically reduces overall training time.</a:t>
            </a:r>
            <a:endParaRPr lang="en-US" sz="1900" dirty="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6559272"/>
            <a:ext cx="370165" cy="370165"/>
          </a:xfrm>
          <a:prstGeom prst="rect">
            <a:avLst/>
          </a:prstGeom>
        </p:spPr>
      </p:pic>
      <p:sp>
        <p:nvSpPr>
          <p:cNvPr id="13" name="Text 7"/>
          <p:cNvSpPr/>
          <p:nvPr/>
        </p:nvSpPr>
        <p:spPr>
          <a:xfrm>
            <a:off x="1665923" y="6551652"/>
            <a:ext cx="3347323"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Large-Scale Feasibility</a:t>
            </a:r>
            <a:endParaRPr lang="en-US" sz="2400" dirty="0"/>
          </a:p>
        </p:txBody>
      </p:sp>
      <p:sp>
        <p:nvSpPr>
          <p:cNvPr id="14" name="Text 8"/>
          <p:cNvSpPr/>
          <p:nvPr/>
        </p:nvSpPr>
        <p:spPr>
          <a:xfrm>
            <a:off x="1665923" y="7085171"/>
            <a:ext cx="12100679"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Parallelization makes training on massive datasets practical for real-world applications.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690682"/>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Project Aim</a:t>
            </a:r>
            <a:endParaRPr lang="en-US" sz="4850" dirty="0"/>
          </a:p>
        </p:txBody>
      </p:sp>
      <p:sp>
        <p:nvSpPr>
          <p:cNvPr id="3" name="Text 1"/>
          <p:cNvSpPr/>
          <p:nvPr/>
        </p:nvSpPr>
        <p:spPr>
          <a:xfrm>
            <a:off x="863798" y="1955602"/>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This project aims to accelerate Random Forest training through parallelization, demonstrating significant performance improvements while preserving model accuracy and consistency.</a:t>
            </a:r>
            <a:endParaRPr lang="en-US" sz="1900" dirty="0"/>
          </a:p>
        </p:txBody>
      </p:sp>
      <p:sp>
        <p:nvSpPr>
          <p:cNvPr id="4" name="Text 2"/>
          <p:cNvSpPr/>
          <p:nvPr/>
        </p:nvSpPr>
        <p:spPr>
          <a:xfrm>
            <a:off x="1478161" y="4619268"/>
            <a:ext cx="3085386" cy="385524"/>
          </a:xfrm>
          <a:prstGeom prst="rect">
            <a:avLst/>
          </a:prstGeom>
          <a:noFill/>
          <a:ln/>
        </p:spPr>
        <p:txBody>
          <a:bodyPr wrap="none" lIns="0" tIns="0" rIns="0" bIns="0" rtlCol="0" anchor="t"/>
          <a:lstStyle/>
          <a:p>
            <a:pPr marL="0" indent="0" algn="r">
              <a:lnSpc>
                <a:spcPts val="3000"/>
              </a:lnSpc>
              <a:buNone/>
            </a:pPr>
            <a:r>
              <a:rPr lang="en-US" sz="2400" dirty="0">
                <a:solidFill>
                  <a:srgbClr val="E2E6E9"/>
                </a:solidFill>
                <a:latin typeface="Merriweather" pitchFamily="34" charset="0"/>
                <a:ea typeface="Merriweather" pitchFamily="34" charset="-122"/>
                <a:cs typeface="Merriweather" pitchFamily="34" charset="-120"/>
              </a:rPr>
              <a:t>Accelerate Training</a:t>
            </a:r>
            <a:endParaRPr lang="en-US" sz="2400" dirty="0"/>
          </a:p>
        </p:txBody>
      </p:sp>
      <p:sp>
        <p:nvSpPr>
          <p:cNvPr id="5" name="Text 3"/>
          <p:cNvSpPr/>
          <p:nvPr/>
        </p:nvSpPr>
        <p:spPr>
          <a:xfrm>
            <a:off x="863798" y="5152787"/>
            <a:ext cx="3699748" cy="789622"/>
          </a:xfrm>
          <a:prstGeom prst="rect">
            <a:avLst/>
          </a:prstGeom>
          <a:noFill/>
          <a:ln/>
        </p:spPr>
        <p:txBody>
          <a:bodyPr wrap="square" lIns="0" tIns="0" rIns="0" bIns="0" rtlCol="0" anchor="t"/>
          <a:lstStyle/>
          <a:p>
            <a:pPr marL="0" indent="0" algn="r">
              <a:lnSpc>
                <a:spcPts val="3100"/>
              </a:lnSpc>
              <a:buNone/>
            </a:pPr>
            <a:r>
              <a:rPr lang="en-US" sz="1900" dirty="0">
                <a:solidFill>
                  <a:srgbClr val="E2E6E9"/>
                </a:solidFill>
                <a:latin typeface="Merriweather" pitchFamily="34" charset="0"/>
                <a:ea typeface="Merriweather" pitchFamily="34" charset="-122"/>
                <a:cs typeface="Merriweather" pitchFamily="34" charset="-120"/>
              </a:rPr>
              <a:t>Reduce execution time using parallel computing techniques.</a:t>
            </a:r>
            <a:endParaRPr lang="en-US" sz="1900" dirty="0"/>
          </a:p>
        </p:txBody>
      </p:sp>
      <p:pic>
        <p:nvPicPr>
          <p:cNvPr id="6" name="Image 0" descr="preencoded.png"/>
          <p:cNvPicPr>
            <a:picLocks noChangeAspect="1"/>
          </p:cNvPicPr>
          <p:nvPr/>
        </p:nvPicPr>
        <p:blipFill>
          <a:blip r:embed="rId3"/>
          <a:stretch>
            <a:fillRect/>
          </a:stretch>
        </p:blipFill>
        <p:spPr>
          <a:xfrm>
            <a:off x="5057180" y="3022878"/>
            <a:ext cx="4515922" cy="4515922"/>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49860" y="5096113"/>
            <a:ext cx="369213" cy="369213"/>
          </a:xfrm>
          <a:prstGeom prst="rect">
            <a:avLst/>
          </a:prstGeom>
        </p:spPr>
      </p:pic>
      <p:sp>
        <p:nvSpPr>
          <p:cNvPr id="8" name="Text 4"/>
          <p:cNvSpPr/>
          <p:nvPr/>
        </p:nvSpPr>
        <p:spPr>
          <a:xfrm>
            <a:off x="9943267" y="3200281"/>
            <a:ext cx="321742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Comparative Analysis</a:t>
            </a:r>
            <a:endParaRPr lang="en-US" sz="2400" dirty="0"/>
          </a:p>
        </p:txBody>
      </p:sp>
      <p:sp>
        <p:nvSpPr>
          <p:cNvPr id="9" name="Text 5"/>
          <p:cNvSpPr/>
          <p:nvPr/>
        </p:nvSpPr>
        <p:spPr>
          <a:xfrm>
            <a:off x="9943267" y="3733800"/>
            <a:ext cx="3823335"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Measure performance differences between serial and parallel implementations.</a:t>
            </a:r>
            <a:endParaRPr lang="en-US" sz="1900" dirty="0"/>
          </a:p>
        </p:txBody>
      </p:sp>
      <p:pic>
        <p:nvPicPr>
          <p:cNvPr id="10" name="Image 2" descr="preencoded.png"/>
          <p:cNvPicPr>
            <a:picLocks noChangeAspect="1"/>
          </p:cNvPicPr>
          <p:nvPr/>
        </p:nvPicPr>
        <p:blipFill>
          <a:blip r:embed="rId6"/>
          <a:stretch>
            <a:fillRect/>
          </a:stretch>
        </p:blipFill>
        <p:spPr>
          <a:xfrm>
            <a:off x="5057180" y="3022878"/>
            <a:ext cx="4515922" cy="4515922"/>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20752" y="3727252"/>
            <a:ext cx="369213" cy="369213"/>
          </a:xfrm>
          <a:prstGeom prst="rect">
            <a:avLst/>
          </a:prstGeom>
        </p:spPr>
      </p:pic>
      <p:sp>
        <p:nvSpPr>
          <p:cNvPr id="12" name="Text 6"/>
          <p:cNvSpPr/>
          <p:nvPr/>
        </p:nvSpPr>
        <p:spPr>
          <a:xfrm>
            <a:off x="9943267" y="5643324"/>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Maintain Accuracy</a:t>
            </a:r>
            <a:endParaRPr lang="en-US" sz="2400" dirty="0"/>
          </a:p>
        </p:txBody>
      </p:sp>
      <p:sp>
        <p:nvSpPr>
          <p:cNvPr id="13" name="Text 7"/>
          <p:cNvSpPr/>
          <p:nvPr/>
        </p:nvSpPr>
        <p:spPr>
          <a:xfrm>
            <a:off x="9943267" y="6176843"/>
            <a:ext cx="3823335"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Ensure parallel version produces identical results to serial baseline.</a:t>
            </a:r>
            <a:endParaRPr lang="en-US" sz="1900" dirty="0"/>
          </a:p>
        </p:txBody>
      </p:sp>
      <p:pic>
        <p:nvPicPr>
          <p:cNvPr id="14" name="Image 4" descr="preencoded.png"/>
          <p:cNvPicPr>
            <a:picLocks noChangeAspect="1"/>
          </p:cNvPicPr>
          <p:nvPr/>
        </p:nvPicPr>
        <p:blipFill>
          <a:blip r:embed="rId9"/>
          <a:stretch>
            <a:fillRect/>
          </a:stretch>
        </p:blipFill>
        <p:spPr>
          <a:xfrm>
            <a:off x="5057180" y="3022878"/>
            <a:ext cx="4515922" cy="4515922"/>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752" y="6464975"/>
            <a:ext cx="369213" cy="3692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75930" y="609600"/>
            <a:ext cx="5542836" cy="692706"/>
          </a:xfrm>
          <a:prstGeom prst="rect">
            <a:avLst/>
          </a:prstGeom>
          <a:noFill/>
          <a:ln/>
        </p:spPr>
        <p:txBody>
          <a:bodyPr wrap="none" lIns="0" tIns="0" rIns="0" bIns="0" rtlCol="0" anchor="t"/>
          <a:lstStyle/>
          <a:p>
            <a:pPr marL="0" indent="0" algn="l">
              <a:lnSpc>
                <a:spcPts val="5450"/>
              </a:lnSpc>
              <a:buNone/>
            </a:pPr>
            <a:r>
              <a:rPr lang="en-US" sz="4350" dirty="0">
                <a:solidFill>
                  <a:srgbClr val="F5F0F0"/>
                </a:solidFill>
                <a:latin typeface="Merriweather" pitchFamily="34" charset="0"/>
                <a:ea typeface="Merriweather" pitchFamily="34" charset="-122"/>
                <a:cs typeface="Merriweather" pitchFamily="34" charset="-120"/>
              </a:rPr>
              <a:t>Research Objectives</a:t>
            </a:r>
            <a:endParaRPr lang="en-US" sz="4350" dirty="0"/>
          </a:p>
        </p:txBody>
      </p:sp>
      <p:pic>
        <p:nvPicPr>
          <p:cNvPr id="3" name="Image 0" descr="preencoded.png"/>
          <p:cNvPicPr>
            <a:picLocks noChangeAspect="1"/>
          </p:cNvPicPr>
          <p:nvPr/>
        </p:nvPicPr>
        <p:blipFill>
          <a:blip r:embed="rId3"/>
          <a:stretch>
            <a:fillRect/>
          </a:stretch>
        </p:blipFill>
        <p:spPr>
          <a:xfrm>
            <a:off x="775930" y="1634847"/>
            <a:ext cx="665083" cy="1143000"/>
          </a:xfrm>
          <a:prstGeom prst="rect">
            <a:avLst/>
          </a:prstGeom>
        </p:spPr>
      </p:pic>
      <p:sp>
        <p:nvSpPr>
          <p:cNvPr id="4" name="Text 1"/>
          <p:cNvSpPr/>
          <p:nvPr/>
        </p:nvSpPr>
        <p:spPr>
          <a:xfrm>
            <a:off x="1662708" y="1856542"/>
            <a:ext cx="3368993"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Implement Serial Version</a:t>
            </a:r>
            <a:endParaRPr lang="en-US" sz="2150" dirty="0"/>
          </a:p>
        </p:txBody>
      </p:sp>
      <p:sp>
        <p:nvSpPr>
          <p:cNvPr id="5" name="Text 2"/>
          <p:cNvSpPr/>
          <p:nvPr/>
        </p:nvSpPr>
        <p:spPr>
          <a:xfrm>
            <a:off x="1662708" y="2336006"/>
            <a:ext cx="12191762"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Build baseline Random Forest trainer without parallelization to establish reference performance metrics.</a:t>
            </a:r>
            <a:endParaRPr lang="en-US" sz="1700" dirty="0"/>
          </a:p>
        </p:txBody>
      </p:sp>
      <p:pic>
        <p:nvPicPr>
          <p:cNvPr id="6" name="Image 1" descr="preencoded.png"/>
          <p:cNvPicPr>
            <a:picLocks noChangeAspect="1"/>
          </p:cNvPicPr>
          <p:nvPr/>
        </p:nvPicPr>
        <p:blipFill>
          <a:blip r:embed="rId3"/>
          <a:stretch>
            <a:fillRect/>
          </a:stretch>
        </p:blipFill>
        <p:spPr>
          <a:xfrm>
            <a:off x="1108472" y="3186827"/>
            <a:ext cx="665083" cy="1143000"/>
          </a:xfrm>
          <a:prstGeom prst="rect">
            <a:avLst/>
          </a:prstGeom>
        </p:spPr>
      </p:pic>
      <p:sp>
        <p:nvSpPr>
          <p:cNvPr id="7" name="Text 3"/>
          <p:cNvSpPr/>
          <p:nvPr/>
        </p:nvSpPr>
        <p:spPr>
          <a:xfrm>
            <a:off x="1995249" y="3408521"/>
            <a:ext cx="4112300"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Identify Parallelizable Sections</a:t>
            </a:r>
            <a:endParaRPr lang="en-US" sz="2150" dirty="0"/>
          </a:p>
        </p:txBody>
      </p:sp>
      <p:sp>
        <p:nvSpPr>
          <p:cNvPr id="8" name="Text 4"/>
          <p:cNvSpPr/>
          <p:nvPr/>
        </p:nvSpPr>
        <p:spPr>
          <a:xfrm>
            <a:off x="1995249" y="3887986"/>
            <a:ext cx="11859220"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Analyze code to locate independent tree training operations suitable for concurrent execution.</a:t>
            </a:r>
            <a:endParaRPr lang="en-US" sz="1700" dirty="0"/>
          </a:p>
        </p:txBody>
      </p:sp>
      <p:pic>
        <p:nvPicPr>
          <p:cNvPr id="9" name="Image 2" descr="preencoded.png"/>
          <p:cNvPicPr>
            <a:picLocks noChangeAspect="1"/>
          </p:cNvPicPr>
          <p:nvPr/>
        </p:nvPicPr>
        <p:blipFill>
          <a:blip r:embed="rId3"/>
          <a:stretch>
            <a:fillRect/>
          </a:stretch>
        </p:blipFill>
        <p:spPr>
          <a:xfrm>
            <a:off x="1441013" y="4738807"/>
            <a:ext cx="665083" cy="1143000"/>
          </a:xfrm>
          <a:prstGeom prst="rect">
            <a:avLst/>
          </a:prstGeom>
        </p:spPr>
      </p:pic>
      <p:sp>
        <p:nvSpPr>
          <p:cNvPr id="10" name="Text 5"/>
          <p:cNvSpPr/>
          <p:nvPr/>
        </p:nvSpPr>
        <p:spPr>
          <a:xfrm>
            <a:off x="2327791" y="4960501"/>
            <a:ext cx="4370189"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Develop Parallel Implementation</a:t>
            </a:r>
            <a:endParaRPr lang="en-US" sz="2150" dirty="0"/>
          </a:p>
        </p:txBody>
      </p:sp>
      <p:sp>
        <p:nvSpPr>
          <p:cNvPr id="11" name="Text 6"/>
          <p:cNvSpPr/>
          <p:nvPr/>
        </p:nvSpPr>
        <p:spPr>
          <a:xfrm>
            <a:off x="2327791" y="5439966"/>
            <a:ext cx="11526679"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Apply OpenMP directives to distribute tree training across multiple CPU threads.</a:t>
            </a:r>
            <a:endParaRPr lang="en-US" sz="1700" dirty="0"/>
          </a:p>
        </p:txBody>
      </p:sp>
      <p:pic>
        <p:nvPicPr>
          <p:cNvPr id="12" name="Image 3" descr="preencoded.png"/>
          <p:cNvPicPr>
            <a:picLocks noChangeAspect="1"/>
          </p:cNvPicPr>
          <p:nvPr/>
        </p:nvPicPr>
        <p:blipFill>
          <a:blip r:embed="rId3"/>
          <a:stretch>
            <a:fillRect/>
          </a:stretch>
        </p:blipFill>
        <p:spPr>
          <a:xfrm>
            <a:off x="1773555" y="6290786"/>
            <a:ext cx="665083" cy="1143000"/>
          </a:xfrm>
          <a:prstGeom prst="rect">
            <a:avLst/>
          </a:prstGeom>
        </p:spPr>
      </p:pic>
      <p:sp>
        <p:nvSpPr>
          <p:cNvPr id="13" name="Text 7"/>
          <p:cNvSpPr/>
          <p:nvPr/>
        </p:nvSpPr>
        <p:spPr>
          <a:xfrm>
            <a:off x="2660333" y="6512481"/>
            <a:ext cx="2909292"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Evaluate Performance</a:t>
            </a:r>
            <a:endParaRPr lang="en-US" sz="2150" dirty="0"/>
          </a:p>
        </p:txBody>
      </p:sp>
      <p:sp>
        <p:nvSpPr>
          <p:cNvPr id="14" name="Text 8"/>
          <p:cNvSpPr/>
          <p:nvPr/>
        </p:nvSpPr>
        <p:spPr>
          <a:xfrm>
            <a:off x="2660333" y="6991945"/>
            <a:ext cx="11194137"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Measure speedup, efficiency, and accuracy across different dataset sizes and thread counts.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731282"/>
            <a:ext cx="10971252"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Literature Review: Existing Solutions</a:t>
            </a:r>
            <a:endParaRPr lang="en-US" sz="4850" dirty="0"/>
          </a:p>
        </p:txBody>
      </p:sp>
      <p:sp>
        <p:nvSpPr>
          <p:cNvPr id="3" name="Text 1"/>
          <p:cNvSpPr/>
          <p:nvPr/>
        </p:nvSpPr>
        <p:spPr>
          <a:xfrm>
            <a:off x="863798" y="2119551"/>
            <a:ext cx="3564731"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Existing Serial Libraries</a:t>
            </a:r>
            <a:endParaRPr lang="en-US" sz="2400" dirty="0"/>
          </a:p>
        </p:txBody>
      </p:sp>
      <p:sp>
        <p:nvSpPr>
          <p:cNvPr id="4" name="Text 2"/>
          <p:cNvSpPr/>
          <p:nvPr/>
        </p:nvSpPr>
        <p:spPr>
          <a:xfrm>
            <a:off x="863798" y="2751892"/>
            <a:ext cx="615029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Scikit-learn and MATLAB provide mature Random Forest implementations but process trees sequentially, limiting performance on multi-core systems despite available computational resources.</a:t>
            </a:r>
            <a:endParaRPr lang="en-US" sz="1900" dirty="0"/>
          </a:p>
        </p:txBody>
      </p:sp>
      <p:sp>
        <p:nvSpPr>
          <p:cNvPr id="5" name="Text 3"/>
          <p:cNvSpPr/>
          <p:nvPr/>
        </p:nvSpPr>
        <p:spPr>
          <a:xfrm>
            <a:off x="7623929" y="2119551"/>
            <a:ext cx="3967520"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Parallelization Approaches</a:t>
            </a:r>
            <a:endParaRPr lang="en-US" sz="2400" dirty="0"/>
          </a:p>
        </p:txBody>
      </p:sp>
      <p:sp>
        <p:nvSpPr>
          <p:cNvPr id="6" name="Text 4"/>
          <p:cNvSpPr/>
          <p:nvPr/>
        </p:nvSpPr>
        <p:spPr>
          <a:xfrm>
            <a:off x="7623929" y="2751892"/>
            <a:ext cx="6150293" cy="1579245"/>
          </a:xfrm>
          <a:prstGeom prst="rect">
            <a:avLst/>
          </a:prstGeom>
          <a:noFill/>
          <a:ln/>
        </p:spPr>
        <p:txBody>
          <a:bodyPr wrap="squar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OpenMP:</a:t>
            </a:r>
            <a:r>
              <a:rPr lang="en-US" sz="1900" dirty="0">
                <a:solidFill>
                  <a:srgbClr val="E2E6E9"/>
                </a:solidFill>
                <a:latin typeface="Merriweather" pitchFamily="34" charset="0"/>
                <a:ea typeface="Merriweather" pitchFamily="34" charset="-122"/>
                <a:cs typeface="Merriweather" pitchFamily="34" charset="-120"/>
              </a:rPr>
              <a:t> Shared-memory parallelism on single machines. </a:t>
            </a:r>
            <a:r>
              <a:rPr lang="en-US" sz="1900" b="1" dirty="0">
                <a:solidFill>
                  <a:srgbClr val="E2E6E9"/>
                </a:solidFill>
                <a:latin typeface="Merriweather" pitchFamily="34" charset="0"/>
                <a:ea typeface="Merriweather" pitchFamily="34" charset="-122"/>
                <a:cs typeface="Merriweather" pitchFamily="34" charset="-120"/>
              </a:rPr>
              <a:t>MPI:</a:t>
            </a:r>
            <a:r>
              <a:rPr lang="en-US" sz="1900" dirty="0">
                <a:solidFill>
                  <a:srgbClr val="E2E6E9"/>
                </a:solidFill>
                <a:latin typeface="Merriweather" pitchFamily="34" charset="0"/>
                <a:ea typeface="Merriweather" pitchFamily="34" charset="-122"/>
                <a:cs typeface="Merriweather" pitchFamily="34" charset="-120"/>
              </a:rPr>
              <a:t> Distributed systems across multiple nodes. Prior research demonstrates significant speedups with both approaches.</a:t>
            </a:r>
            <a:endParaRPr lang="en-US" sz="1900" dirty="0"/>
          </a:p>
        </p:txBody>
      </p:sp>
      <p:sp>
        <p:nvSpPr>
          <p:cNvPr id="7" name="Shape 5"/>
          <p:cNvSpPr/>
          <p:nvPr/>
        </p:nvSpPr>
        <p:spPr>
          <a:xfrm>
            <a:off x="863798" y="4830842"/>
            <a:ext cx="4136350" cy="2667357"/>
          </a:xfrm>
          <a:prstGeom prst="roundRect">
            <a:avLst>
              <a:gd name="adj" fmla="val 3887"/>
            </a:avLst>
          </a:prstGeom>
          <a:solidFill>
            <a:srgbClr val="09151A">
              <a:alpha val="95000"/>
            </a:srgbClr>
          </a:solidFill>
          <a:ln w="30480">
            <a:solidFill>
              <a:srgbClr val="194A99"/>
            </a:solidFill>
            <a:prstDash val="solid"/>
          </a:ln>
        </p:spPr>
      </p:sp>
      <p:sp>
        <p:nvSpPr>
          <p:cNvPr id="8" name="Text 6"/>
          <p:cNvSpPr/>
          <p:nvPr/>
        </p:nvSpPr>
        <p:spPr>
          <a:xfrm>
            <a:off x="1141095" y="5108138"/>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Scikit-learn</a:t>
            </a:r>
            <a:endParaRPr lang="en-US" sz="2400" dirty="0"/>
          </a:p>
        </p:txBody>
      </p:sp>
      <p:sp>
        <p:nvSpPr>
          <p:cNvPr id="9" name="Text 7"/>
          <p:cNvSpPr/>
          <p:nvPr/>
        </p:nvSpPr>
        <p:spPr>
          <a:xfrm>
            <a:off x="1141095" y="5641658"/>
            <a:ext cx="3581757"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Industry standard but inherently sequential for tree construction.</a:t>
            </a:r>
            <a:endParaRPr lang="en-US" sz="1900" dirty="0"/>
          </a:p>
        </p:txBody>
      </p:sp>
      <p:sp>
        <p:nvSpPr>
          <p:cNvPr id="10" name="Shape 8"/>
          <p:cNvSpPr/>
          <p:nvPr/>
        </p:nvSpPr>
        <p:spPr>
          <a:xfrm>
            <a:off x="5246965" y="4830842"/>
            <a:ext cx="4136350" cy="2667357"/>
          </a:xfrm>
          <a:prstGeom prst="roundRect">
            <a:avLst>
              <a:gd name="adj" fmla="val 3887"/>
            </a:avLst>
          </a:prstGeom>
          <a:solidFill>
            <a:srgbClr val="09151A">
              <a:alpha val="95000"/>
            </a:srgbClr>
          </a:solidFill>
          <a:ln w="30480">
            <a:solidFill>
              <a:srgbClr val="194A99"/>
            </a:solidFill>
            <a:prstDash val="solid"/>
          </a:ln>
        </p:spPr>
      </p:sp>
      <p:sp>
        <p:nvSpPr>
          <p:cNvPr id="11" name="Text 9"/>
          <p:cNvSpPr/>
          <p:nvPr/>
        </p:nvSpPr>
        <p:spPr>
          <a:xfrm>
            <a:off x="5524262" y="5108138"/>
            <a:ext cx="3093244"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OpenMP Advantages</a:t>
            </a:r>
            <a:endParaRPr lang="en-US" sz="2400" dirty="0"/>
          </a:p>
        </p:txBody>
      </p:sp>
      <p:sp>
        <p:nvSpPr>
          <p:cNvPr id="12" name="Text 10"/>
          <p:cNvSpPr/>
          <p:nvPr/>
        </p:nvSpPr>
        <p:spPr>
          <a:xfrm>
            <a:off x="5524262" y="5641658"/>
            <a:ext cx="3581757"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Simple syntax, minimal code changes, effective for shared-memory parallelism.</a:t>
            </a:r>
            <a:endParaRPr lang="en-US" sz="1900" dirty="0"/>
          </a:p>
        </p:txBody>
      </p:sp>
      <p:sp>
        <p:nvSpPr>
          <p:cNvPr id="13" name="Shape 11"/>
          <p:cNvSpPr/>
          <p:nvPr/>
        </p:nvSpPr>
        <p:spPr>
          <a:xfrm>
            <a:off x="9630132" y="4830842"/>
            <a:ext cx="4136350" cy="2667357"/>
          </a:xfrm>
          <a:prstGeom prst="roundRect">
            <a:avLst>
              <a:gd name="adj" fmla="val 3887"/>
            </a:avLst>
          </a:prstGeom>
          <a:solidFill>
            <a:srgbClr val="09151A">
              <a:alpha val="95000"/>
            </a:srgbClr>
          </a:solidFill>
          <a:ln w="30480">
            <a:solidFill>
              <a:srgbClr val="194A99"/>
            </a:solidFill>
            <a:prstDash val="solid"/>
          </a:ln>
        </p:spPr>
      </p:sp>
      <p:sp>
        <p:nvSpPr>
          <p:cNvPr id="14" name="Text 12"/>
          <p:cNvSpPr/>
          <p:nvPr/>
        </p:nvSpPr>
        <p:spPr>
          <a:xfrm>
            <a:off x="9907429" y="5108138"/>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Proven Results</a:t>
            </a:r>
            <a:endParaRPr lang="en-US" sz="2400" dirty="0"/>
          </a:p>
        </p:txBody>
      </p:sp>
      <p:sp>
        <p:nvSpPr>
          <p:cNvPr id="15" name="Text 13"/>
          <p:cNvSpPr/>
          <p:nvPr/>
        </p:nvSpPr>
        <p:spPr>
          <a:xfrm>
            <a:off x="9907429" y="5641658"/>
            <a:ext cx="3581757"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Published work shows substantial performance gains with parallel frameworks.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1714619"/>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Problem Statement</a:t>
            </a:r>
            <a:endParaRPr lang="en-US" sz="4850" dirty="0"/>
          </a:p>
        </p:txBody>
      </p:sp>
      <p:sp>
        <p:nvSpPr>
          <p:cNvPr id="3" name="Text 1"/>
          <p:cNvSpPr/>
          <p:nvPr/>
        </p:nvSpPr>
        <p:spPr>
          <a:xfrm>
            <a:off x="1233964" y="3226237"/>
            <a:ext cx="12532638" cy="1851184"/>
          </a:xfrm>
          <a:prstGeom prst="rect">
            <a:avLst/>
          </a:prstGeom>
          <a:noFill/>
          <a:ln/>
        </p:spPr>
        <p:txBody>
          <a:bodyPr wrap="square" lIns="0" tIns="0" rIns="0" bIns="0" rtlCol="0" anchor="t"/>
          <a:lstStyle/>
          <a:p>
            <a:pPr marL="0" indent="0" algn="l">
              <a:lnSpc>
                <a:spcPts val="3600"/>
              </a:lnSpc>
              <a:buNone/>
            </a:pPr>
            <a:r>
              <a:rPr lang="en-US" sz="2900" dirty="0">
                <a:solidFill>
                  <a:srgbClr val="F5F0F0"/>
                </a:solidFill>
                <a:latin typeface="Merriweather" pitchFamily="34" charset="0"/>
                <a:ea typeface="Merriweather" pitchFamily="34" charset="-122"/>
                <a:cs typeface="Merriweather" pitchFamily="34" charset="-120"/>
              </a:rPr>
              <a:t>Random Forest training is computationally intensive, with sequential tree generation creating a severe bottleneck. Large datasets require impractical execution times, limiting practical deployment in time-sensitive applications.</a:t>
            </a:r>
            <a:endParaRPr lang="en-US" sz="2900" dirty="0"/>
          </a:p>
        </p:txBody>
      </p:sp>
      <p:sp>
        <p:nvSpPr>
          <p:cNvPr id="4" name="Shape 2"/>
          <p:cNvSpPr/>
          <p:nvPr/>
        </p:nvSpPr>
        <p:spPr>
          <a:xfrm>
            <a:off x="863798" y="2856071"/>
            <a:ext cx="30480" cy="2591514"/>
          </a:xfrm>
          <a:prstGeom prst="rect">
            <a:avLst/>
          </a:prstGeom>
          <a:solidFill>
            <a:srgbClr val="609DFF"/>
          </a:solidFill>
          <a:ln/>
        </p:spPr>
      </p:sp>
      <p:sp>
        <p:nvSpPr>
          <p:cNvPr id="5" name="Text 3"/>
          <p:cNvSpPr/>
          <p:nvPr/>
        </p:nvSpPr>
        <p:spPr>
          <a:xfrm>
            <a:off x="863798" y="5725239"/>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Traditional implementations cannot fully leverage modern multi-core processors. An efficient parallel solution is essential to make Random Forest training viable for large-scale real-world applications.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685205"/>
            <a:ext cx="12166044"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Methodology: Implementation Workflow</a:t>
            </a:r>
            <a:endParaRPr lang="en-US" sz="4850" dirty="0"/>
          </a:p>
        </p:txBody>
      </p:sp>
      <p:sp>
        <p:nvSpPr>
          <p:cNvPr id="3" name="Text 1"/>
          <p:cNvSpPr/>
          <p:nvPr/>
        </p:nvSpPr>
        <p:spPr>
          <a:xfrm>
            <a:off x="863798" y="1950125"/>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01</a:t>
            </a:r>
            <a:endParaRPr lang="en-US" sz="1900" dirty="0"/>
          </a:p>
        </p:txBody>
      </p:sp>
      <p:sp>
        <p:nvSpPr>
          <p:cNvPr id="4" name="Shape 2"/>
          <p:cNvSpPr/>
          <p:nvPr/>
        </p:nvSpPr>
        <p:spPr>
          <a:xfrm>
            <a:off x="863798" y="2339102"/>
            <a:ext cx="4136350" cy="30480"/>
          </a:xfrm>
          <a:prstGeom prst="rect">
            <a:avLst/>
          </a:prstGeom>
          <a:solidFill>
            <a:srgbClr val="609DFF"/>
          </a:solidFill>
          <a:ln/>
        </p:spPr>
      </p:sp>
      <p:sp>
        <p:nvSpPr>
          <p:cNvPr id="5" name="Text 3"/>
          <p:cNvSpPr/>
          <p:nvPr/>
        </p:nvSpPr>
        <p:spPr>
          <a:xfrm>
            <a:off x="863798" y="2523411"/>
            <a:ext cx="4136350"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Load and Preprocess Dataset</a:t>
            </a:r>
            <a:endParaRPr lang="en-US" sz="2400" dirty="0"/>
          </a:p>
        </p:txBody>
      </p:sp>
      <p:sp>
        <p:nvSpPr>
          <p:cNvPr id="6" name="Text 4"/>
          <p:cNvSpPr/>
          <p:nvPr/>
        </p:nvSpPr>
        <p:spPr>
          <a:xfrm>
            <a:off x="863798" y="3442454"/>
            <a:ext cx="4136350"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Acquire data, normalize features, and prepare training/test splits for consistent evaluation.</a:t>
            </a:r>
            <a:endParaRPr lang="en-US" sz="1900" dirty="0"/>
          </a:p>
        </p:txBody>
      </p:sp>
      <p:sp>
        <p:nvSpPr>
          <p:cNvPr id="7" name="Text 5"/>
          <p:cNvSpPr/>
          <p:nvPr/>
        </p:nvSpPr>
        <p:spPr>
          <a:xfrm>
            <a:off x="5246965" y="1950125"/>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02</a:t>
            </a:r>
            <a:endParaRPr lang="en-US" sz="1900" dirty="0"/>
          </a:p>
        </p:txBody>
      </p:sp>
      <p:sp>
        <p:nvSpPr>
          <p:cNvPr id="8" name="Shape 6"/>
          <p:cNvSpPr/>
          <p:nvPr/>
        </p:nvSpPr>
        <p:spPr>
          <a:xfrm>
            <a:off x="5246965" y="2339102"/>
            <a:ext cx="4136350" cy="30480"/>
          </a:xfrm>
          <a:prstGeom prst="rect">
            <a:avLst/>
          </a:prstGeom>
          <a:solidFill>
            <a:srgbClr val="609DFF"/>
          </a:solidFill>
          <a:ln/>
        </p:spPr>
      </p:sp>
      <p:sp>
        <p:nvSpPr>
          <p:cNvPr id="9" name="Text 7"/>
          <p:cNvSpPr/>
          <p:nvPr/>
        </p:nvSpPr>
        <p:spPr>
          <a:xfrm>
            <a:off x="5246965" y="2523411"/>
            <a:ext cx="3086100"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Initialize Parameters</a:t>
            </a:r>
            <a:endParaRPr lang="en-US" sz="2400" dirty="0"/>
          </a:p>
        </p:txBody>
      </p:sp>
      <p:sp>
        <p:nvSpPr>
          <p:cNvPr id="10" name="Text 8"/>
          <p:cNvSpPr/>
          <p:nvPr/>
        </p:nvSpPr>
        <p:spPr>
          <a:xfrm>
            <a:off x="5246965" y="3056930"/>
            <a:ext cx="4136350"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Set Random Forest configuration: number of trees, tree depth, feature sampling strategy, and random seed.</a:t>
            </a:r>
            <a:endParaRPr lang="en-US" sz="1900" dirty="0"/>
          </a:p>
        </p:txBody>
      </p:sp>
      <p:sp>
        <p:nvSpPr>
          <p:cNvPr id="11" name="Text 9"/>
          <p:cNvSpPr/>
          <p:nvPr/>
        </p:nvSpPr>
        <p:spPr>
          <a:xfrm>
            <a:off x="9630132" y="1950125"/>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03</a:t>
            </a:r>
            <a:endParaRPr lang="en-US" sz="1900" dirty="0"/>
          </a:p>
        </p:txBody>
      </p:sp>
      <p:sp>
        <p:nvSpPr>
          <p:cNvPr id="12" name="Shape 10"/>
          <p:cNvSpPr/>
          <p:nvPr/>
        </p:nvSpPr>
        <p:spPr>
          <a:xfrm>
            <a:off x="9630132" y="2339102"/>
            <a:ext cx="4136350" cy="30480"/>
          </a:xfrm>
          <a:prstGeom prst="rect">
            <a:avLst/>
          </a:prstGeom>
          <a:solidFill>
            <a:srgbClr val="609DFF"/>
          </a:solidFill>
          <a:ln/>
        </p:spPr>
      </p:sp>
      <p:sp>
        <p:nvSpPr>
          <p:cNvPr id="13" name="Text 11"/>
          <p:cNvSpPr/>
          <p:nvPr/>
        </p:nvSpPr>
        <p:spPr>
          <a:xfrm>
            <a:off x="9630132" y="2523411"/>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Train Decision Trees</a:t>
            </a:r>
            <a:endParaRPr lang="en-US" sz="2400" dirty="0"/>
          </a:p>
        </p:txBody>
      </p:sp>
      <p:sp>
        <p:nvSpPr>
          <p:cNvPr id="14" name="Text 12"/>
          <p:cNvSpPr/>
          <p:nvPr/>
        </p:nvSpPr>
        <p:spPr>
          <a:xfrm>
            <a:off x="9630132" y="3056930"/>
            <a:ext cx="4136350"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Build trees sequentially (serial version) or concurrently (parallel version) using bootstrap samples.</a:t>
            </a:r>
            <a:endParaRPr lang="en-US" sz="1900" dirty="0"/>
          </a:p>
        </p:txBody>
      </p:sp>
      <p:sp>
        <p:nvSpPr>
          <p:cNvPr id="15" name="Text 13"/>
          <p:cNvSpPr/>
          <p:nvPr/>
        </p:nvSpPr>
        <p:spPr>
          <a:xfrm>
            <a:off x="863798" y="5068014"/>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04</a:t>
            </a:r>
            <a:endParaRPr lang="en-US" sz="1900" dirty="0"/>
          </a:p>
        </p:txBody>
      </p:sp>
      <p:sp>
        <p:nvSpPr>
          <p:cNvPr id="16" name="Shape 14"/>
          <p:cNvSpPr/>
          <p:nvPr/>
        </p:nvSpPr>
        <p:spPr>
          <a:xfrm>
            <a:off x="863798" y="5456992"/>
            <a:ext cx="6327934" cy="30480"/>
          </a:xfrm>
          <a:prstGeom prst="rect">
            <a:avLst/>
          </a:prstGeom>
          <a:solidFill>
            <a:srgbClr val="609DFF"/>
          </a:solidFill>
          <a:ln/>
        </p:spPr>
      </p:sp>
      <p:sp>
        <p:nvSpPr>
          <p:cNvPr id="17" name="Text 15"/>
          <p:cNvSpPr/>
          <p:nvPr/>
        </p:nvSpPr>
        <p:spPr>
          <a:xfrm>
            <a:off x="863798" y="564130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Aggregate Models</a:t>
            </a:r>
            <a:endParaRPr lang="en-US" sz="2400" dirty="0"/>
          </a:p>
        </p:txBody>
      </p:sp>
      <p:sp>
        <p:nvSpPr>
          <p:cNvPr id="18" name="Text 16"/>
          <p:cNvSpPr/>
          <p:nvPr/>
        </p:nvSpPr>
        <p:spPr>
          <a:xfrm>
            <a:off x="863798" y="6174819"/>
            <a:ext cx="6327934"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Combine trained trees into final ensemble model for prediction.</a:t>
            </a:r>
            <a:endParaRPr lang="en-US" sz="1900" dirty="0"/>
          </a:p>
        </p:txBody>
      </p:sp>
      <p:sp>
        <p:nvSpPr>
          <p:cNvPr id="19" name="Text 17"/>
          <p:cNvSpPr/>
          <p:nvPr/>
        </p:nvSpPr>
        <p:spPr>
          <a:xfrm>
            <a:off x="7438549" y="5068014"/>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05</a:t>
            </a:r>
            <a:endParaRPr lang="en-US" sz="1900" dirty="0"/>
          </a:p>
        </p:txBody>
      </p:sp>
      <p:sp>
        <p:nvSpPr>
          <p:cNvPr id="20" name="Shape 18"/>
          <p:cNvSpPr/>
          <p:nvPr/>
        </p:nvSpPr>
        <p:spPr>
          <a:xfrm>
            <a:off x="7438549" y="5456992"/>
            <a:ext cx="6327934" cy="30480"/>
          </a:xfrm>
          <a:prstGeom prst="rect">
            <a:avLst/>
          </a:prstGeom>
          <a:solidFill>
            <a:srgbClr val="609DFF"/>
          </a:solidFill>
          <a:ln/>
        </p:spPr>
      </p:sp>
      <p:sp>
        <p:nvSpPr>
          <p:cNvPr id="21" name="Text 19"/>
          <p:cNvSpPr/>
          <p:nvPr/>
        </p:nvSpPr>
        <p:spPr>
          <a:xfrm>
            <a:off x="7438549" y="5641300"/>
            <a:ext cx="3798332"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Performance Comparison</a:t>
            </a:r>
            <a:endParaRPr lang="en-US" sz="2400" dirty="0"/>
          </a:p>
        </p:txBody>
      </p:sp>
      <p:sp>
        <p:nvSpPr>
          <p:cNvPr id="22" name="Text 20"/>
          <p:cNvSpPr/>
          <p:nvPr/>
        </p:nvSpPr>
        <p:spPr>
          <a:xfrm>
            <a:off x="7438549" y="6174819"/>
            <a:ext cx="6327934"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Measure execution time, speedup, efficiency, and verify accuracy equivalence between implementations.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0789" y="472083"/>
            <a:ext cx="7877056" cy="536496"/>
          </a:xfrm>
          <a:prstGeom prst="rect">
            <a:avLst/>
          </a:prstGeom>
          <a:noFill/>
          <a:ln/>
        </p:spPr>
        <p:txBody>
          <a:bodyPr wrap="none" lIns="0" tIns="0" rIns="0" bIns="0" rtlCol="0" anchor="t"/>
          <a:lstStyle/>
          <a:p>
            <a:pPr marL="0" indent="0" algn="l">
              <a:lnSpc>
                <a:spcPts val="4200"/>
              </a:lnSpc>
              <a:buNone/>
            </a:pPr>
            <a:r>
              <a:rPr lang="en-US" sz="3350" dirty="0">
                <a:solidFill>
                  <a:srgbClr val="F5F0F0"/>
                </a:solidFill>
                <a:latin typeface="Merriweather" pitchFamily="34" charset="0"/>
                <a:ea typeface="Merriweather" pitchFamily="34" charset="-122"/>
                <a:cs typeface="Merriweather" pitchFamily="34" charset="-120"/>
              </a:rPr>
              <a:t>System Architecture: Serial vs. Parallel</a:t>
            </a:r>
            <a:endParaRPr lang="en-US" sz="3350" dirty="0"/>
          </a:p>
        </p:txBody>
      </p:sp>
      <p:sp>
        <p:nvSpPr>
          <p:cNvPr id="3" name="Text 1"/>
          <p:cNvSpPr/>
          <p:nvPr/>
        </p:nvSpPr>
        <p:spPr>
          <a:xfrm>
            <a:off x="600789" y="1437561"/>
            <a:ext cx="2145863" cy="268129"/>
          </a:xfrm>
          <a:prstGeom prst="rect">
            <a:avLst/>
          </a:prstGeom>
          <a:noFill/>
          <a:ln/>
        </p:spPr>
        <p:txBody>
          <a:bodyPr wrap="none" lIns="0" tIns="0" rIns="0" bIns="0" rtlCol="0" anchor="t"/>
          <a:lstStyle/>
          <a:p>
            <a:pPr marL="0" indent="0" algn="l">
              <a:lnSpc>
                <a:spcPts val="2100"/>
              </a:lnSpc>
              <a:buNone/>
            </a:pPr>
            <a:r>
              <a:rPr lang="en-US" sz="1650" dirty="0">
                <a:solidFill>
                  <a:srgbClr val="F5F0F0"/>
                </a:solidFill>
                <a:latin typeface="Merriweather" pitchFamily="34" charset="0"/>
                <a:ea typeface="Merriweather" pitchFamily="34" charset="-122"/>
                <a:cs typeface="Merriweather" pitchFamily="34" charset="-120"/>
              </a:rPr>
              <a:t>Serial Approach</a:t>
            </a:r>
            <a:endParaRPr lang="en-US" sz="1650" dirty="0"/>
          </a:p>
        </p:txBody>
      </p:sp>
      <p:sp>
        <p:nvSpPr>
          <p:cNvPr id="4" name="Text 2"/>
          <p:cNvSpPr/>
          <p:nvPr/>
        </p:nvSpPr>
        <p:spPr>
          <a:xfrm>
            <a:off x="600789" y="1877258"/>
            <a:ext cx="6504980" cy="549354"/>
          </a:xfrm>
          <a:prstGeom prst="rect">
            <a:avLst/>
          </a:prstGeom>
          <a:noFill/>
          <a:ln/>
        </p:spPr>
        <p:txBody>
          <a:bodyPr wrap="square" lIns="0" tIns="0" rIns="0" bIns="0" rtlCol="0" anchor="t"/>
          <a:lstStyle/>
          <a:p>
            <a:pPr marL="0" indent="0" algn="l">
              <a:lnSpc>
                <a:spcPts val="2150"/>
              </a:lnSpc>
              <a:buNone/>
            </a:pPr>
            <a:r>
              <a:rPr lang="en-US" sz="1350" dirty="0">
                <a:solidFill>
                  <a:srgbClr val="E2E6E9"/>
                </a:solidFill>
                <a:latin typeface="Merriweather" pitchFamily="34" charset="0"/>
                <a:ea typeface="Merriweather" pitchFamily="34" charset="-122"/>
                <a:cs typeface="Merriweather" pitchFamily="34" charset="-120"/>
              </a:rPr>
              <a:t>Single thread processes one decision tree at a time. Cores remain idle while waiting for tree completion. Simple to implement but underutilizes hardware.</a:t>
            </a:r>
            <a:endParaRPr lang="en-US" sz="1350" dirty="0"/>
          </a:p>
        </p:txBody>
      </p:sp>
      <p:sp>
        <p:nvSpPr>
          <p:cNvPr id="5" name="Text 3"/>
          <p:cNvSpPr/>
          <p:nvPr/>
        </p:nvSpPr>
        <p:spPr>
          <a:xfrm>
            <a:off x="7532251" y="1437561"/>
            <a:ext cx="2145863" cy="268129"/>
          </a:xfrm>
          <a:prstGeom prst="rect">
            <a:avLst/>
          </a:prstGeom>
          <a:noFill/>
          <a:ln/>
        </p:spPr>
        <p:txBody>
          <a:bodyPr wrap="none" lIns="0" tIns="0" rIns="0" bIns="0" rtlCol="0" anchor="t"/>
          <a:lstStyle/>
          <a:p>
            <a:pPr marL="0" indent="0" algn="l">
              <a:lnSpc>
                <a:spcPts val="2100"/>
              </a:lnSpc>
              <a:buNone/>
            </a:pPr>
            <a:r>
              <a:rPr lang="en-US" sz="1650" dirty="0">
                <a:solidFill>
                  <a:srgbClr val="F5F0F0"/>
                </a:solidFill>
                <a:latin typeface="Merriweather" pitchFamily="34" charset="0"/>
                <a:ea typeface="Merriweather" pitchFamily="34" charset="-122"/>
                <a:cs typeface="Merriweather" pitchFamily="34" charset="-120"/>
              </a:rPr>
              <a:t>Parallel Approach</a:t>
            </a:r>
            <a:endParaRPr lang="en-US" sz="1650" dirty="0"/>
          </a:p>
        </p:txBody>
      </p:sp>
      <p:sp>
        <p:nvSpPr>
          <p:cNvPr id="6" name="Text 4"/>
          <p:cNvSpPr/>
          <p:nvPr/>
        </p:nvSpPr>
        <p:spPr>
          <a:xfrm>
            <a:off x="7532251" y="1877258"/>
            <a:ext cx="6504980" cy="824032"/>
          </a:xfrm>
          <a:prstGeom prst="rect">
            <a:avLst/>
          </a:prstGeom>
          <a:noFill/>
          <a:ln/>
        </p:spPr>
        <p:txBody>
          <a:bodyPr wrap="square" lIns="0" tIns="0" rIns="0" bIns="0" rtlCol="0" anchor="t"/>
          <a:lstStyle/>
          <a:p>
            <a:pPr marL="0" indent="0" algn="l">
              <a:lnSpc>
                <a:spcPts val="2150"/>
              </a:lnSpc>
              <a:buNone/>
            </a:pPr>
            <a:r>
              <a:rPr lang="en-US" sz="1350" dirty="0">
                <a:solidFill>
                  <a:srgbClr val="E2E6E9"/>
                </a:solidFill>
                <a:latin typeface="Merriweather" pitchFamily="34" charset="0"/>
                <a:ea typeface="Merriweather" pitchFamily="34" charset="-122"/>
                <a:cs typeface="Merriweather" pitchFamily="34" charset="-120"/>
              </a:rPr>
              <a:t>Multiple threads build independent trees concurrently using OpenMP shared-memory model. Each core actively contributes to model training simultaneously.</a:t>
            </a:r>
            <a:endParaRPr lang="en-US" sz="1350" dirty="0"/>
          </a:p>
        </p:txBody>
      </p:sp>
      <p:pic>
        <p:nvPicPr>
          <p:cNvPr id="7" name="Image 0" descr="preencoded.png"/>
          <p:cNvPicPr>
            <a:picLocks noChangeAspect="1"/>
          </p:cNvPicPr>
          <p:nvPr/>
        </p:nvPicPr>
        <p:blipFill>
          <a:blip r:embed="rId3"/>
          <a:stretch>
            <a:fillRect/>
          </a:stretch>
        </p:blipFill>
        <p:spPr>
          <a:xfrm>
            <a:off x="656153" y="3048833"/>
            <a:ext cx="13318093" cy="5743099"/>
          </a:xfrm>
          <a:prstGeom prst="rect">
            <a:avLst/>
          </a:prstGeom>
        </p:spPr>
      </p:pic>
      <p:sp>
        <p:nvSpPr>
          <p:cNvPr id="8" name="Text 5"/>
          <p:cNvSpPr/>
          <p:nvPr/>
        </p:nvSpPr>
        <p:spPr>
          <a:xfrm>
            <a:off x="1552292" y="7702826"/>
            <a:ext cx="3021442" cy="377680"/>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Combined Model</a:t>
            </a:r>
            <a:endParaRPr lang="en-US" sz="1350" dirty="0"/>
          </a:p>
        </p:txBody>
      </p:sp>
      <p:sp>
        <p:nvSpPr>
          <p:cNvPr id="9" name="Text 6"/>
          <p:cNvSpPr/>
          <p:nvPr/>
        </p:nvSpPr>
        <p:spPr>
          <a:xfrm>
            <a:off x="1552292" y="6373391"/>
            <a:ext cx="3168108" cy="377681"/>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Parallel Tree Training</a:t>
            </a:r>
            <a:endParaRPr lang="en-US" sz="1350" dirty="0"/>
          </a:p>
        </p:txBody>
      </p:sp>
      <p:sp>
        <p:nvSpPr>
          <p:cNvPr id="10" name="Text 7"/>
          <p:cNvSpPr/>
          <p:nvPr/>
        </p:nvSpPr>
        <p:spPr>
          <a:xfrm>
            <a:off x="1552292" y="5057385"/>
            <a:ext cx="3021442" cy="377680"/>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Split Into Streams</a:t>
            </a:r>
            <a:endParaRPr lang="en-US" sz="1350" dirty="0"/>
          </a:p>
        </p:txBody>
      </p:sp>
      <p:sp>
        <p:nvSpPr>
          <p:cNvPr id="11" name="Text 8"/>
          <p:cNvSpPr/>
          <p:nvPr/>
        </p:nvSpPr>
        <p:spPr>
          <a:xfrm>
            <a:off x="1552292" y="3727951"/>
            <a:ext cx="3021442" cy="377680"/>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Dataset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1528" y="957739"/>
            <a:ext cx="12742069" cy="706755"/>
          </a:xfrm>
          <a:prstGeom prst="rect">
            <a:avLst/>
          </a:prstGeom>
          <a:noFill/>
          <a:ln/>
        </p:spPr>
        <p:txBody>
          <a:bodyPr wrap="none" lIns="0" tIns="0" rIns="0" bIns="0" rtlCol="0" anchor="t"/>
          <a:lstStyle/>
          <a:p>
            <a:pPr marL="0" indent="0" algn="l">
              <a:lnSpc>
                <a:spcPts val="5550"/>
              </a:lnSpc>
              <a:buNone/>
            </a:pPr>
            <a:r>
              <a:rPr lang="en-US" sz="4450" dirty="0">
                <a:solidFill>
                  <a:srgbClr val="F5F0F0"/>
                </a:solidFill>
                <a:latin typeface="Merriweather" pitchFamily="34" charset="0"/>
                <a:ea typeface="Merriweather" pitchFamily="34" charset="-122"/>
                <a:cs typeface="Merriweather" pitchFamily="34" charset="-120"/>
              </a:rPr>
              <a:t>Serial Algorithm: Sequential Tree Construction</a:t>
            </a:r>
            <a:endParaRPr lang="en-US" sz="4450" dirty="0"/>
          </a:p>
        </p:txBody>
      </p:sp>
      <p:sp>
        <p:nvSpPr>
          <p:cNvPr id="3" name="Shape 1"/>
          <p:cNvSpPr/>
          <p:nvPr/>
        </p:nvSpPr>
        <p:spPr>
          <a:xfrm>
            <a:off x="791528" y="2003703"/>
            <a:ext cx="508873" cy="508873"/>
          </a:xfrm>
          <a:prstGeom prst="roundRect">
            <a:avLst>
              <a:gd name="adj" fmla="val 18668"/>
            </a:avLst>
          </a:prstGeom>
          <a:solidFill>
            <a:srgbClr val="003180"/>
          </a:solidFill>
          <a:ln w="7620">
            <a:solidFill>
              <a:srgbClr val="194A99"/>
            </a:solidFill>
            <a:prstDash val="solid"/>
          </a:ln>
        </p:spPr>
      </p:sp>
      <p:sp>
        <p:nvSpPr>
          <p:cNvPr id="4" name="Text 2"/>
          <p:cNvSpPr/>
          <p:nvPr/>
        </p:nvSpPr>
        <p:spPr>
          <a:xfrm>
            <a:off x="876360" y="2046149"/>
            <a:ext cx="339209" cy="423982"/>
          </a:xfrm>
          <a:prstGeom prst="rect">
            <a:avLst/>
          </a:prstGeom>
          <a:noFill/>
          <a:ln/>
        </p:spPr>
        <p:txBody>
          <a:bodyPr wrap="none" lIns="0" tIns="0" rIns="0" bIns="0" rtlCol="0" anchor="t"/>
          <a:lstStyle/>
          <a:p>
            <a:pPr marL="0" indent="0" algn="ctr">
              <a:lnSpc>
                <a:spcPts val="2650"/>
              </a:lnSpc>
              <a:buNone/>
            </a:pPr>
            <a:r>
              <a:rPr lang="en-US" sz="2650" dirty="0">
                <a:solidFill>
                  <a:srgbClr val="E2E6E9"/>
                </a:solidFill>
                <a:latin typeface="Merriweather" pitchFamily="34" charset="0"/>
                <a:ea typeface="Merriweather" pitchFamily="34" charset="-122"/>
                <a:cs typeface="Merriweather" pitchFamily="34" charset="-120"/>
              </a:rPr>
              <a:t>1</a:t>
            </a:r>
            <a:endParaRPr lang="en-US" sz="2650" dirty="0"/>
          </a:p>
        </p:txBody>
      </p:sp>
      <p:sp>
        <p:nvSpPr>
          <p:cNvPr id="5" name="Text 3"/>
          <p:cNvSpPr/>
          <p:nvPr/>
        </p:nvSpPr>
        <p:spPr>
          <a:xfrm>
            <a:off x="1526500" y="2081451"/>
            <a:ext cx="2827139" cy="353378"/>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Sample Subset</a:t>
            </a:r>
            <a:endParaRPr lang="en-US" sz="2200" dirty="0"/>
          </a:p>
        </p:txBody>
      </p:sp>
      <p:sp>
        <p:nvSpPr>
          <p:cNvPr id="6" name="Text 4"/>
          <p:cNvSpPr/>
          <p:nvPr/>
        </p:nvSpPr>
        <p:spPr>
          <a:xfrm>
            <a:off x="1526500" y="2570440"/>
            <a:ext cx="12312372" cy="3619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For each tree, randomly select features and create bootstrap sample from training data with replacement.</a:t>
            </a:r>
            <a:endParaRPr lang="en-US" sz="1750" dirty="0"/>
          </a:p>
        </p:txBody>
      </p:sp>
      <p:sp>
        <p:nvSpPr>
          <p:cNvPr id="7" name="Shape 5"/>
          <p:cNvSpPr/>
          <p:nvPr/>
        </p:nvSpPr>
        <p:spPr>
          <a:xfrm>
            <a:off x="791528" y="3384709"/>
            <a:ext cx="508873" cy="508873"/>
          </a:xfrm>
          <a:prstGeom prst="roundRect">
            <a:avLst>
              <a:gd name="adj" fmla="val 18668"/>
            </a:avLst>
          </a:prstGeom>
          <a:solidFill>
            <a:srgbClr val="003180"/>
          </a:solidFill>
          <a:ln w="7620">
            <a:solidFill>
              <a:srgbClr val="194A99"/>
            </a:solidFill>
            <a:prstDash val="solid"/>
          </a:ln>
        </p:spPr>
      </p:sp>
      <p:sp>
        <p:nvSpPr>
          <p:cNvPr id="8" name="Text 6"/>
          <p:cNvSpPr/>
          <p:nvPr/>
        </p:nvSpPr>
        <p:spPr>
          <a:xfrm>
            <a:off x="876360" y="3427155"/>
            <a:ext cx="339209" cy="423982"/>
          </a:xfrm>
          <a:prstGeom prst="rect">
            <a:avLst/>
          </a:prstGeom>
          <a:noFill/>
          <a:ln/>
        </p:spPr>
        <p:txBody>
          <a:bodyPr wrap="none" lIns="0" tIns="0" rIns="0" bIns="0" rtlCol="0" anchor="t"/>
          <a:lstStyle/>
          <a:p>
            <a:pPr marL="0" indent="0" algn="ctr">
              <a:lnSpc>
                <a:spcPts val="2650"/>
              </a:lnSpc>
              <a:buNone/>
            </a:pPr>
            <a:r>
              <a:rPr lang="en-US" sz="2650" dirty="0">
                <a:solidFill>
                  <a:srgbClr val="E2E6E9"/>
                </a:solidFill>
                <a:latin typeface="Merriweather" pitchFamily="34" charset="0"/>
                <a:ea typeface="Merriweather" pitchFamily="34" charset="-122"/>
                <a:cs typeface="Merriweather" pitchFamily="34" charset="-120"/>
              </a:rPr>
              <a:t>2</a:t>
            </a:r>
            <a:endParaRPr lang="en-US" sz="2650" dirty="0"/>
          </a:p>
        </p:txBody>
      </p:sp>
      <p:sp>
        <p:nvSpPr>
          <p:cNvPr id="9" name="Text 7"/>
          <p:cNvSpPr/>
          <p:nvPr/>
        </p:nvSpPr>
        <p:spPr>
          <a:xfrm>
            <a:off x="1526500" y="3462457"/>
            <a:ext cx="3027402" cy="353378"/>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Build Tree Recursively</a:t>
            </a:r>
            <a:endParaRPr lang="en-US" sz="2200" dirty="0"/>
          </a:p>
        </p:txBody>
      </p:sp>
      <p:sp>
        <p:nvSpPr>
          <p:cNvPr id="10" name="Text 8"/>
          <p:cNvSpPr/>
          <p:nvPr/>
        </p:nvSpPr>
        <p:spPr>
          <a:xfrm>
            <a:off x="1526500" y="3951446"/>
            <a:ext cx="12312372" cy="3619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Construct decision tree by selecting optimal split features at each node to minimize impurity.</a:t>
            </a:r>
            <a:endParaRPr lang="en-US" sz="1750" dirty="0"/>
          </a:p>
        </p:txBody>
      </p:sp>
      <p:sp>
        <p:nvSpPr>
          <p:cNvPr id="11" name="Shape 9"/>
          <p:cNvSpPr/>
          <p:nvPr/>
        </p:nvSpPr>
        <p:spPr>
          <a:xfrm>
            <a:off x="791528" y="4765715"/>
            <a:ext cx="508873" cy="508873"/>
          </a:xfrm>
          <a:prstGeom prst="roundRect">
            <a:avLst>
              <a:gd name="adj" fmla="val 18668"/>
            </a:avLst>
          </a:prstGeom>
          <a:solidFill>
            <a:srgbClr val="003180"/>
          </a:solidFill>
          <a:ln w="7620">
            <a:solidFill>
              <a:srgbClr val="194A99"/>
            </a:solidFill>
            <a:prstDash val="solid"/>
          </a:ln>
        </p:spPr>
      </p:sp>
      <p:sp>
        <p:nvSpPr>
          <p:cNvPr id="12" name="Text 10"/>
          <p:cNvSpPr/>
          <p:nvPr/>
        </p:nvSpPr>
        <p:spPr>
          <a:xfrm>
            <a:off x="876360" y="4808160"/>
            <a:ext cx="339209" cy="423982"/>
          </a:xfrm>
          <a:prstGeom prst="rect">
            <a:avLst/>
          </a:prstGeom>
          <a:noFill/>
          <a:ln/>
        </p:spPr>
        <p:txBody>
          <a:bodyPr wrap="none" lIns="0" tIns="0" rIns="0" bIns="0" rtlCol="0" anchor="t"/>
          <a:lstStyle/>
          <a:p>
            <a:pPr marL="0" indent="0" algn="ctr">
              <a:lnSpc>
                <a:spcPts val="2650"/>
              </a:lnSpc>
              <a:buNone/>
            </a:pPr>
            <a:r>
              <a:rPr lang="en-US" sz="2650" dirty="0">
                <a:solidFill>
                  <a:srgbClr val="E2E6E9"/>
                </a:solidFill>
                <a:latin typeface="Merriweather" pitchFamily="34" charset="0"/>
                <a:ea typeface="Merriweather" pitchFamily="34" charset="-122"/>
                <a:cs typeface="Merriweather" pitchFamily="34" charset="-120"/>
              </a:rPr>
              <a:t>3</a:t>
            </a:r>
            <a:endParaRPr lang="en-US" sz="2650" dirty="0"/>
          </a:p>
        </p:txBody>
      </p:sp>
      <p:sp>
        <p:nvSpPr>
          <p:cNvPr id="13" name="Text 11"/>
          <p:cNvSpPr/>
          <p:nvPr/>
        </p:nvSpPr>
        <p:spPr>
          <a:xfrm>
            <a:off x="1526500" y="4843463"/>
            <a:ext cx="2827139" cy="353378"/>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Store Model</a:t>
            </a:r>
            <a:endParaRPr lang="en-US" sz="2200" dirty="0"/>
          </a:p>
        </p:txBody>
      </p:sp>
      <p:sp>
        <p:nvSpPr>
          <p:cNvPr id="14" name="Text 12"/>
          <p:cNvSpPr/>
          <p:nvPr/>
        </p:nvSpPr>
        <p:spPr>
          <a:xfrm>
            <a:off x="1526500" y="5332452"/>
            <a:ext cx="12312372" cy="3619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Add completed tree to forest collection before proceeding to next tree.</a:t>
            </a:r>
            <a:endParaRPr lang="en-US" sz="1750" dirty="0"/>
          </a:p>
        </p:txBody>
      </p:sp>
      <p:sp>
        <p:nvSpPr>
          <p:cNvPr id="15" name="Shape 13"/>
          <p:cNvSpPr/>
          <p:nvPr/>
        </p:nvSpPr>
        <p:spPr>
          <a:xfrm>
            <a:off x="791528" y="5948839"/>
            <a:ext cx="13047345" cy="1322903"/>
          </a:xfrm>
          <a:prstGeom prst="roundRect">
            <a:avLst>
              <a:gd name="adj" fmla="val 7181"/>
            </a:avLst>
          </a:prstGeom>
          <a:solidFill>
            <a:srgbClr val="001D4D"/>
          </a:solidFill>
          <a:ln/>
        </p:spPr>
      </p:sp>
      <p:pic>
        <p:nvPicPr>
          <p:cNvPr id="16" name="Image 0" descr="preencoded.png"/>
          <p:cNvPicPr>
            <a:picLocks noChangeAspect="1"/>
          </p:cNvPicPr>
          <p:nvPr/>
        </p:nvPicPr>
        <p:blipFill>
          <a:blip r:embed="rId3"/>
          <a:stretch>
            <a:fillRect/>
          </a:stretch>
        </p:blipFill>
        <p:spPr>
          <a:xfrm>
            <a:off x="1017627" y="6292572"/>
            <a:ext cx="282654" cy="226100"/>
          </a:xfrm>
          <a:prstGeom prst="rect">
            <a:avLst/>
          </a:prstGeom>
        </p:spPr>
      </p:pic>
      <p:sp>
        <p:nvSpPr>
          <p:cNvPr id="17" name="Text 14"/>
          <p:cNvSpPr/>
          <p:nvPr/>
        </p:nvSpPr>
        <p:spPr>
          <a:xfrm>
            <a:off x="1526381" y="6231374"/>
            <a:ext cx="12086392" cy="723900"/>
          </a:xfrm>
          <a:prstGeom prst="rect">
            <a:avLst/>
          </a:prstGeom>
          <a:noFill/>
          <a:ln/>
        </p:spPr>
        <p:txBody>
          <a:bodyPr wrap="square" lIns="0" tIns="0" rIns="0" bIns="0" rtlCol="0" anchor="t"/>
          <a:lstStyle/>
          <a:p>
            <a:pPr marL="0" indent="0" algn="l">
              <a:lnSpc>
                <a:spcPts val="2800"/>
              </a:lnSpc>
              <a:buNone/>
            </a:pPr>
            <a:r>
              <a:rPr lang="en-US" sz="1750" b="1" dirty="0">
                <a:solidFill>
                  <a:srgbClr val="FFFFFF"/>
                </a:solidFill>
                <a:latin typeface="Merriweather" pitchFamily="34" charset="0"/>
                <a:ea typeface="Merriweather" pitchFamily="34" charset="-122"/>
                <a:cs typeface="Merriweather" pitchFamily="34" charset="-120"/>
              </a:rPr>
              <a:t>Time Complexity:</a:t>
            </a:r>
            <a:r>
              <a:rPr lang="en-US" sz="1750" dirty="0">
                <a:solidFill>
                  <a:srgbClr val="FFFFFF"/>
                </a:solidFill>
                <a:latin typeface="Merriweather" pitchFamily="34" charset="0"/>
                <a:ea typeface="Merriweather" pitchFamily="34" charset="-122"/>
                <a:cs typeface="Merriweather" pitchFamily="34" charset="-120"/>
              </a:rPr>
              <a:t> O(Ntrees × Ttree), where Ntrees is the number of trees and Ttree is the time to train one tree. Parallelization reduces this to approximately O(Ttree) with sufficient cores.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C46433-87B7-194D-C6EF-09339457094C}"/>
              </a:ext>
            </a:extLst>
          </p:cNvPr>
          <p:cNvSpPr txBox="1"/>
          <p:nvPr/>
        </p:nvSpPr>
        <p:spPr>
          <a:xfrm>
            <a:off x="2167466" y="1351679"/>
            <a:ext cx="7315200" cy="2439129"/>
          </a:xfrm>
          <a:prstGeom prst="rect">
            <a:avLst/>
          </a:prstGeom>
          <a:noFill/>
        </p:spPr>
        <p:txBody>
          <a:bodyPr wrap="square">
            <a:spAutoFit/>
          </a:bodyPr>
          <a:lstStyle/>
          <a:p>
            <a:pPr marL="0" indent="0" algn="l">
              <a:lnSpc>
                <a:spcPts val="6050"/>
              </a:lnSpc>
              <a:buNone/>
            </a:pPr>
            <a:r>
              <a:rPr lang="en-US" sz="5400" dirty="0">
                <a:solidFill>
                  <a:srgbClr val="F5F0F0"/>
                </a:solidFill>
                <a:latin typeface="Merriweather" pitchFamily="34" charset="0"/>
                <a:ea typeface="Merriweather" pitchFamily="34" charset="-122"/>
                <a:cs typeface="Merriweather" pitchFamily="34" charset="-120"/>
              </a:rPr>
              <a:t>Parallel Random Forest Training with OpenMP</a:t>
            </a:r>
            <a:endParaRPr lang="en-US" sz="5400" dirty="0"/>
          </a:p>
        </p:txBody>
      </p:sp>
      <p:sp>
        <p:nvSpPr>
          <p:cNvPr id="5" name="TextBox 4">
            <a:extLst>
              <a:ext uri="{FF2B5EF4-FFF2-40B4-BE49-F238E27FC236}">
                <a16:creationId xmlns:a16="http://schemas.microsoft.com/office/drawing/2014/main" id="{0F53634E-1275-D240-F805-11AD02D44ECE}"/>
              </a:ext>
            </a:extLst>
          </p:cNvPr>
          <p:cNvSpPr txBox="1"/>
          <p:nvPr/>
        </p:nvSpPr>
        <p:spPr>
          <a:xfrm>
            <a:off x="2167466" y="4737952"/>
            <a:ext cx="10453512" cy="848758"/>
          </a:xfrm>
          <a:prstGeom prst="rect">
            <a:avLst/>
          </a:prstGeom>
          <a:noFill/>
        </p:spPr>
        <p:txBody>
          <a:bodyPr wrap="square">
            <a:spAutoFit/>
          </a:bodyPr>
          <a:lstStyle/>
          <a:p>
            <a:pPr marL="0" indent="0" algn="l">
              <a:lnSpc>
                <a:spcPts val="3100"/>
              </a:lnSpc>
              <a:buNone/>
            </a:pPr>
            <a:r>
              <a:rPr lang="en-US" sz="1800" dirty="0">
                <a:solidFill>
                  <a:srgbClr val="E2E6E9"/>
                </a:solidFill>
                <a:latin typeface="Merriweather" pitchFamily="34" charset="0"/>
                <a:ea typeface="Merriweather" pitchFamily="34" charset="-122"/>
                <a:cs typeface="Merriweather" pitchFamily="34" charset="-120"/>
              </a:rPr>
              <a:t>Accelerating machine learning model training through multi-threaded parallelization of tree construction in random forest ensembles.</a:t>
            </a:r>
            <a:endParaRPr lang="en-US" sz="1800" dirty="0"/>
          </a:p>
        </p:txBody>
      </p:sp>
    </p:spTree>
    <p:extLst>
      <p:ext uri="{BB962C8B-B14F-4D97-AF65-F5344CB8AC3E}">
        <p14:creationId xmlns:p14="http://schemas.microsoft.com/office/powerpoint/2010/main" val="1688443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A53E270-2767-8CD1-8317-FC0090FFB612}"/>
              </a:ext>
            </a:extLst>
          </p:cNvPr>
          <p:cNvSpPr/>
          <p:nvPr/>
        </p:nvSpPr>
        <p:spPr>
          <a:xfrm>
            <a:off x="941325" y="1729193"/>
            <a:ext cx="741676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Parallel Algorithm Architecture</a:t>
            </a:r>
            <a:endParaRPr lang="en-US" sz="3850" dirty="0"/>
          </a:p>
        </p:txBody>
      </p:sp>
      <p:sp>
        <p:nvSpPr>
          <p:cNvPr id="3" name="Text 1">
            <a:extLst>
              <a:ext uri="{FF2B5EF4-FFF2-40B4-BE49-F238E27FC236}">
                <a16:creationId xmlns:a16="http://schemas.microsoft.com/office/drawing/2014/main" id="{87F3E800-387E-4294-4D17-5992424D6155}"/>
              </a:ext>
            </a:extLst>
          </p:cNvPr>
          <p:cNvSpPr/>
          <p:nvPr/>
        </p:nvSpPr>
        <p:spPr>
          <a:xfrm>
            <a:off x="863798" y="2893457"/>
            <a:ext cx="1290280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core strategy leverages OpenMP's parallel loop construct to distribute tree training across multiple threads. Each thread independently trains one tree on the complete dataset, then results are merged into the final ensemble model.</a:t>
            </a:r>
            <a:endParaRPr lang="en-US" sz="1900" dirty="0"/>
          </a:p>
        </p:txBody>
      </p:sp>
      <p:sp>
        <p:nvSpPr>
          <p:cNvPr id="4" name="Shape 2">
            <a:extLst>
              <a:ext uri="{FF2B5EF4-FFF2-40B4-BE49-F238E27FC236}">
                <a16:creationId xmlns:a16="http://schemas.microsoft.com/office/drawing/2014/main" id="{011FAD24-B963-01E2-2DD3-1966A2AD565A}"/>
              </a:ext>
            </a:extLst>
          </p:cNvPr>
          <p:cNvSpPr/>
          <p:nvPr/>
        </p:nvSpPr>
        <p:spPr>
          <a:xfrm>
            <a:off x="863798" y="4355544"/>
            <a:ext cx="12902803" cy="1295162"/>
          </a:xfrm>
          <a:prstGeom prst="roundRect">
            <a:avLst>
              <a:gd name="adj" fmla="val 8004"/>
            </a:avLst>
          </a:prstGeom>
          <a:solidFill>
            <a:srgbClr val="003180"/>
          </a:solidFill>
          <a:ln w="15240">
            <a:solidFill>
              <a:srgbClr val="194A99"/>
            </a:solidFill>
            <a:prstDash val="solid"/>
          </a:ln>
        </p:spPr>
      </p:sp>
      <p:sp>
        <p:nvSpPr>
          <p:cNvPr id="5" name="Shape 3">
            <a:extLst>
              <a:ext uri="{FF2B5EF4-FFF2-40B4-BE49-F238E27FC236}">
                <a16:creationId xmlns:a16="http://schemas.microsoft.com/office/drawing/2014/main" id="{4D275E3E-448F-85D5-D8FB-46DF452F85BC}"/>
              </a:ext>
            </a:extLst>
          </p:cNvPr>
          <p:cNvSpPr/>
          <p:nvPr/>
        </p:nvSpPr>
        <p:spPr>
          <a:xfrm>
            <a:off x="879038" y="4370784"/>
            <a:ext cx="4290774" cy="1264682"/>
          </a:xfrm>
          <a:prstGeom prst="roundRect">
            <a:avLst>
              <a:gd name="adj" fmla="val 8197"/>
            </a:avLst>
          </a:prstGeom>
          <a:solidFill>
            <a:srgbClr val="003180"/>
          </a:solidFill>
          <a:ln/>
        </p:spPr>
      </p:sp>
      <p:sp>
        <p:nvSpPr>
          <p:cNvPr id="6" name="Text 4">
            <a:extLst>
              <a:ext uri="{FF2B5EF4-FFF2-40B4-BE49-F238E27FC236}">
                <a16:creationId xmlns:a16="http://schemas.microsoft.com/office/drawing/2014/main" id="{C5EE2F30-CE7A-E49E-1279-AFED719060C9}"/>
              </a:ext>
            </a:extLst>
          </p:cNvPr>
          <p:cNvSpPr/>
          <p:nvPr/>
        </p:nvSpPr>
        <p:spPr>
          <a:xfrm>
            <a:off x="1125855" y="4617601"/>
            <a:ext cx="3426976"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#pragma omp parallel for</a:t>
            </a:r>
            <a:endParaRPr lang="en-US" sz="2400" dirty="0"/>
          </a:p>
        </p:txBody>
      </p:sp>
      <p:sp>
        <p:nvSpPr>
          <p:cNvPr id="7" name="Shape 5">
            <a:extLst>
              <a:ext uri="{FF2B5EF4-FFF2-40B4-BE49-F238E27FC236}">
                <a16:creationId xmlns:a16="http://schemas.microsoft.com/office/drawing/2014/main" id="{66C79237-69E9-3857-2253-2899E418B230}"/>
              </a:ext>
            </a:extLst>
          </p:cNvPr>
          <p:cNvSpPr/>
          <p:nvPr/>
        </p:nvSpPr>
        <p:spPr>
          <a:xfrm>
            <a:off x="5169813" y="4370784"/>
            <a:ext cx="4290774" cy="1264682"/>
          </a:xfrm>
          <a:prstGeom prst="rect">
            <a:avLst/>
          </a:prstGeom>
          <a:solidFill>
            <a:srgbClr val="003180"/>
          </a:solidFill>
          <a:ln/>
        </p:spPr>
      </p:sp>
      <p:sp>
        <p:nvSpPr>
          <p:cNvPr id="8" name="Shape 6">
            <a:extLst>
              <a:ext uri="{FF2B5EF4-FFF2-40B4-BE49-F238E27FC236}">
                <a16:creationId xmlns:a16="http://schemas.microsoft.com/office/drawing/2014/main" id="{F3107FBD-F805-D27D-174C-9F6270D0BE52}"/>
              </a:ext>
            </a:extLst>
          </p:cNvPr>
          <p:cNvSpPr/>
          <p:nvPr/>
        </p:nvSpPr>
        <p:spPr>
          <a:xfrm>
            <a:off x="5169813" y="4370784"/>
            <a:ext cx="30480" cy="1264682"/>
          </a:xfrm>
          <a:prstGeom prst="roundRect">
            <a:avLst>
              <a:gd name="adj" fmla="val 340122"/>
            </a:avLst>
          </a:prstGeom>
          <a:solidFill>
            <a:srgbClr val="194A99"/>
          </a:solidFill>
          <a:ln/>
        </p:spPr>
      </p:sp>
      <p:sp>
        <p:nvSpPr>
          <p:cNvPr id="9" name="Text 7">
            <a:extLst>
              <a:ext uri="{FF2B5EF4-FFF2-40B4-BE49-F238E27FC236}">
                <a16:creationId xmlns:a16="http://schemas.microsoft.com/office/drawing/2014/main" id="{05A1F78C-4498-85DF-162D-43AFEF2F27E6}"/>
              </a:ext>
            </a:extLst>
          </p:cNvPr>
          <p:cNvSpPr/>
          <p:nvPr/>
        </p:nvSpPr>
        <p:spPr>
          <a:xfrm>
            <a:off x="5786795" y="4617601"/>
            <a:ext cx="3056811"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Each thread trains one tree</a:t>
            </a:r>
            <a:endParaRPr lang="en-US" sz="2400" dirty="0"/>
          </a:p>
        </p:txBody>
      </p:sp>
      <p:sp>
        <p:nvSpPr>
          <p:cNvPr id="10" name="Shape 8">
            <a:extLst>
              <a:ext uri="{FF2B5EF4-FFF2-40B4-BE49-F238E27FC236}">
                <a16:creationId xmlns:a16="http://schemas.microsoft.com/office/drawing/2014/main" id="{E6DBD27A-69F1-6B78-436A-B74954DB9931}"/>
              </a:ext>
            </a:extLst>
          </p:cNvPr>
          <p:cNvSpPr/>
          <p:nvPr/>
        </p:nvSpPr>
        <p:spPr>
          <a:xfrm>
            <a:off x="4861322" y="4694634"/>
            <a:ext cx="616982" cy="616982"/>
          </a:xfrm>
          <a:prstGeom prst="roundRect">
            <a:avLst>
              <a:gd name="adj" fmla="val 16803"/>
            </a:avLst>
          </a:prstGeom>
          <a:solidFill>
            <a:srgbClr val="09151A">
              <a:alpha val="95000"/>
            </a:srgbClr>
          </a:solidFill>
          <a:ln w="30480">
            <a:solidFill>
              <a:srgbClr val="194A99"/>
            </a:solidFill>
            <a:prstDash val="solid"/>
          </a:ln>
        </p:spPr>
      </p:sp>
      <p:pic>
        <p:nvPicPr>
          <p:cNvPr id="11" name="Image 0" descr="preencoded.png">
            <a:extLst>
              <a:ext uri="{FF2B5EF4-FFF2-40B4-BE49-F238E27FC236}">
                <a16:creationId xmlns:a16="http://schemas.microsoft.com/office/drawing/2014/main" id="{D1846F86-F701-9640-3AF1-E3C9221A97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5508" y="4848820"/>
            <a:ext cx="308491" cy="308491"/>
          </a:xfrm>
          <a:prstGeom prst="rect">
            <a:avLst/>
          </a:prstGeom>
        </p:spPr>
      </p:pic>
      <p:sp>
        <p:nvSpPr>
          <p:cNvPr id="12" name="Shape 9">
            <a:extLst>
              <a:ext uri="{FF2B5EF4-FFF2-40B4-BE49-F238E27FC236}">
                <a16:creationId xmlns:a16="http://schemas.microsoft.com/office/drawing/2014/main" id="{9CBC4F46-5C15-56B1-4A20-3DEDBA72D186}"/>
              </a:ext>
            </a:extLst>
          </p:cNvPr>
          <p:cNvSpPr/>
          <p:nvPr/>
        </p:nvSpPr>
        <p:spPr>
          <a:xfrm>
            <a:off x="9460587" y="4370784"/>
            <a:ext cx="4290774" cy="1264682"/>
          </a:xfrm>
          <a:prstGeom prst="rect">
            <a:avLst/>
          </a:prstGeom>
          <a:solidFill>
            <a:srgbClr val="003180"/>
          </a:solidFill>
          <a:ln/>
        </p:spPr>
      </p:sp>
      <p:sp>
        <p:nvSpPr>
          <p:cNvPr id="13" name="Shape 10">
            <a:extLst>
              <a:ext uri="{FF2B5EF4-FFF2-40B4-BE49-F238E27FC236}">
                <a16:creationId xmlns:a16="http://schemas.microsoft.com/office/drawing/2014/main" id="{33B29564-796C-E2CA-B55F-7F95C2C56333}"/>
              </a:ext>
            </a:extLst>
          </p:cNvPr>
          <p:cNvSpPr/>
          <p:nvPr/>
        </p:nvSpPr>
        <p:spPr>
          <a:xfrm>
            <a:off x="9460587" y="4370784"/>
            <a:ext cx="30480" cy="1264682"/>
          </a:xfrm>
          <a:prstGeom prst="roundRect">
            <a:avLst>
              <a:gd name="adj" fmla="val 340122"/>
            </a:avLst>
          </a:prstGeom>
          <a:solidFill>
            <a:srgbClr val="194A99"/>
          </a:solidFill>
          <a:ln/>
        </p:spPr>
      </p:sp>
      <p:sp>
        <p:nvSpPr>
          <p:cNvPr id="14" name="Text 11">
            <a:extLst>
              <a:ext uri="{FF2B5EF4-FFF2-40B4-BE49-F238E27FC236}">
                <a16:creationId xmlns:a16="http://schemas.microsoft.com/office/drawing/2014/main" id="{1B6653A3-68FB-99E5-3FD9-092B7C5C4C6E}"/>
              </a:ext>
            </a:extLst>
          </p:cNvPr>
          <p:cNvSpPr/>
          <p:nvPr/>
        </p:nvSpPr>
        <p:spPr>
          <a:xfrm>
            <a:off x="10077569" y="4617601"/>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Merge trained trees</a:t>
            </a:r>
            <a:endParaRPr lang="en-US" sz="2400" dirty="0"/>
          </a:p>
        </p:txBody>
      </p:sp>
      <p:sp>
        <p:nvSpPr>
          <p:cNvPr id="15" name="Shape 12">
            <a:extLst>
              <a:ext uri="{FF2B5EF4-FFF2-40B4-BE49-F238E27FC236}">
                <a16:creationId xmlns:a16="http://schemas.microsoft.com/office/drawing/2014/main" id="{1A7EA558-86B7-20E6-5E4B-10631D9D73CF}"/>
              </a:ext>
            </a:extLst>
          </p:cNvPr>
          <p:cNvSpPr/>
          <p:nvPr/>
        </p:nvSpPr>
        <p:spPr>
          <a:xfrm>
            <a:off x="9152096" y="4694634"/>
            <a:ext cx="616982" cy="616982"/>
          </a:xfrm>
          <a:prstGeom prst="roundRect">
            <a:avLst>
              <a:gd name="adj" fmla="val 16803"/>
            </a:avLst>
          </a:prstGeom>
          <a:solidFill>
            <a:srgbClr val="09151A">
              <a:alpha val="95000"/>
            </a:srgbClr>
          </a:solidFill>
          <a:ln w="30480">
            <a:solidFill>
              <a:srgbClr val="194A99"/>
            </a:solidFill>
            <a:prstDash val="solid"/>
          </a:ln>
        </p:spPr>
      </p:sp>
      <p:pic>
        <p:nvPicPr>
          <p:cNvPr id="16" name="Image 1" descr="preencoded.png">
            <a:extLst>
              <a:ext uri="{FF2B5EF4-FFF2-40B4-BE49-F238E27FC236}">
                <a16:creationId xmlns:a16="http://schemas.microsoft.com/office/drawing/2014/main" id="{C9C9B0E6-8186-90CE-97F3-3297207B17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06282" y="4848820"/>
            <a:ext cx="308491" cy="308491"/>
          </a:xfrm>
          <a:prstGeom prst="rect">
            <a:avLst/>
          </a:prstGeom>
        </p:spPr>
      </p:pic>
      <p:sp>
        <p:nvSpPr>
          <p:cNvPr id="17" name="Text 13">
            <a:extLst>
              <a:ext uri="{FF2B5EF4-FFF2-40B4-BE49-F238E27FC236}">
                <a16:creationId xmlns:a16="http://schemas.microsoft.com/office/drawing/2014/main" id="{AA708BCB-CAFB-A78D-5D4F-D750BAED0C49}"/>
              </a:ext>
            </a:extLst>
          </p:cNvPr>
          <p:cNvSpPr/>
          <p:nvPr/>
        </p:nvSpPr>
        <p:spPr>
          <a:xfrm>
            <a:off x="863798" y="5928360"/>
            <a:ext cx="12902803"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Time Complexity:</a:t>
            </a:r>
            <a:r>
              <a:rPr lang="en-US" sz="1900" dirty="0">
                <a:solidFill>
                  <a:srgbClr val="E2E6E9"/>
                </a:solidFill>
                <a:latin typeface="Merriweather" pitchFamily="34" charset="0"/>
                <a:ea typeface="Merriweather" pitchFamily="34" charset="-122"/>
                <a:cs typeface="Merriweather" pitchFamily="34" charset="-120"/>
              </a:rPr>
              <a:t> O((N_trees × T_tree) / P), where P is the number of processor threads.</a:t>
            </a:r>
            <a:endParaRPr lang="en-US" sz="1900" dirty="0"/>
          </a:p>
        </p:txBody>
      </p:sp>
    </p:spTree>
    <p:extLst>
      <p:ext uri="{BB962C8B-B14F-4D97-AF65-F5344CB8AC3E}">
        <p14:creationId xmlns:p14="http://schemas.microsoft.com/office/powerpoint/2010/main" val="111603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D7671D-D7B5-3DC0-12FF-4166B2596716}"/>
              </a:ext>
            </a:extLst>
          </p:cNvPr>
          <p:cNvSpPr/>
          <p:nvPr/>
        </p:nvSpPr>
        <p:spPr>
          <a:xfrm>
            <a:off x="863798" y="1974056"/>
            <a:ext cx="533400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Serial Implementation</a:t>
            </a:r>
            <a:endParaRPr lang="en-US" sz="3850" dirty="0"/>
          </a:p>
        </p:txBody>
      </p:sp>
      <p:sp>
        <p:nvSpPr>
          <p:cNvPr id="3" name="Text 1">
            <a:extLst>
              <a:ext uri="{FF2B5EF4-FFF2-40B4-BE49-F238E27FC236}">
                <a16:creationId xmlns:a16="http://schemas.microsoft.com/office/drawing/2014/main" id="{7F0FEBD2-1A6A-3908-DDC2-E6D64492F1AB}"/>
              </a:ext>
            </a:extLst>
          </p:cNvPr>
          <p:cNvSpPr/>
          <p:nvPr/>
        </p:nvSpPr>
        <p:spPr>
          <a:xfrm>
            <a:off x="863798" y="2961203"/>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baseline sequential approach trains trees one at a time. This serves as the reference point for measuring parallelization benefits.</a:t>
            </a:r>
            <a:endParaRPr lang="en-US" sz="1900" dirty="0"/>
          </a:p>
        </p:txBody>
      </p:sp>
      <p:sp>
        <p:nvSpPr>
          <p:cNvPr id="4" name="Shape 2">
            <a:extLst>
              <a:ext uri="{FF2B5EF4-FFF2-40B4-BE49-F238E27FC236}">
                <a16:creationId xmlns:a16="http://schemas.microsoft.com/office/drawing/2014/main" id="{D9EC9804-16C9-16A1-FD1B-DC7228338C5F}"/>
              </a:ext>
            </a:extLst>
          </p:cNvPr>
          <p:cNvSpPr/>
          <p:nvPr/>
        </p:nvSpPr>
        <p:spPr>
          <a:xfrm>
            <a:off x="863798" y="4028480"/>
            <a:ext cx="12902803" cy="1554480"/>
          </a:xfrm>
          <a:prstGeom prst="roundRect">
            <a:avLst>
              <a:gd name="adj" fmla="val 6669"/>
            </a:avLst>
          </a:prstGeom>
          <a:solidFill>
            <a:srgbClr val="162227"/>
          </a:solidFill>
          <a:ln/>
        </p:spPr>
      </p:sp>
      <p:sp>
        <p:nvSpPr>
          <p:cNvPr id="5" name="Shape 3">
            <a:extLst>
              <a:ext uri="{FF2B5EF4-FFF2-40B4-BE49-F238E27FC236}">
                <a16:creationId xmlns:a16="http://schemas.microsoft.com/office/drawing/2014/main" id="{7DD84AEC-071B-FFC1-EF11-48777002A212}"/>
              </a:ext>
            </a:extLst>
          </p:cNvPr>
          <p:cNvSpPr/>
          <p:nvPr/>
        </p:nvSpPr>
        <p:spPr>
          <a:xfrm>
            <a:off x="851535" y="4028480"/>
            <a:ext cx="12927330" cy="1554480"/>
          </a:xfrm>
          <a:prstGeom prst="roundRect">
            <a:avLst>
              <a:gd name="adj" fmla="val 2382"/>
            </a:avLst>
          </a:prstGeom>
          <a:solidFill>
            <a:srgbClr val="162227"/>
          </a:solidFill>
          <a:ln/>
        </p:spPr>
      </p:sp>
      <p:sp>
        <p:nvSpPr>
          <p:cNvPr id="6" name="Text 4">
            <a:extLst>
              <a:ext uri="{FF2B5EF4-FFF2-40B4-BE49-F238E27FC236}">
                <a16:creationId xmlns:a16="http://schemas.microsoft.com/office/drawing/2014/main" id="{9704B054-6FAA-F033-61C5-E8938C90767B}"/>
              </a:ext>
            </a:extLst>
          </p:cNvPr>
          <p:cNvSpPr/>
          <p:nvPr/>
        </p:nvSpPr>
        <p:spPr>
          <a:xfrm>
            <a:off x="1098352" y="4213503"/>
            <a:ext cx="12433697"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for (i = 0; i &lt; N_trees; i++) {  forest[i].train(dataset);}</a:t>
            </a:r>
            <a:endParaRPr lang="en-US" sz="1900" dirty="0"/>
          </a:p>
        </p:txBody>
      </p:sp>
      <p:sp>
        <p:nvSpPr>
          <p:cNvPr id="7" name="Text 5">
            <a:extLst>
              <a:ext uri="{FF2B5EF4-FFF2-40B4-BE49-F238E27FC236}">
                <a16:creationId xmlns:a16="http://schemas.microsoft.com/office/drawing/2014/main" id="{B9AD651E-8012-5BD8-AE0B-677D93DF97D8}"/>
              </a:ext>
            </a:extLst>
          </p:cNvPr>
          <p:cNvSpPr/>
          <p:nvPr/>
        </p:nvSpPr>
        <p:spPr>
          <a:xfrm>
            <a:off x="863798" y="5860613"/>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Sequential execution processes one tree per loop iteration, creating a bottleneck in training time.</a:t>
            </a:r>
            <a:endParaRPr lang="en-US" sz="1900" dirty="0"/>
          </a:p>
        </p:txBody>
      </p:sp>
    </p:spTree>
    <p:extLst>
      <p:ext uri="{BB962C8B-B14F-4D97-AF65-F5344CB8AC3E}">
        <p14:creationId xmlns:p14="http://schemas.microsoft.com/office/powerpoint/2010/main" val="1952839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00F361-FF27-7C60-13F3-61FCAE6EFBF6}"/>
              </a:ext>
            </a:extLst>
          </p:cNvPr>
          <p:cNvSpPr/>
          <p:nvPr/>
        </p:nvSpPr>
        <p:spPr>
          <a:xfrm>
            <a:off x="863798" y="1776651"/>
            <a:ext cx="5747504"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Parallel Implementation</a:t>
            </a:r>
            <a:endParaRPr lang="en-US" sz="3850" dirty="0"/>
          </a:p>
        </p:txBody>
      </p:sp>
      <p:sp>
        <p:nvSpPr>
          <p:cNvPr id="3" name="Text 1">
            <a:extLst>
              <a:ext uri="{FF2B5EF4-FFF2-40B4-BE49-F238E27FC236}">
                <a16:creationId xmlns:a16="http://schemas.microsoft.com/office/drawing/2014/main" id="{650E7285-CB3E-B6BB-662E-FBA762577128}"/>
              </a:ext>
            </a:extLst>
          </p:cNvPr>
          <p:cNvSpPr/>
          <p:nvPr/>
        </p:nvSpPr>
        <p:spPr>
          <a:xfrm>
            <a:off x="863798" y="2763798"/>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OpenMP distributes the tree-building loop across available processor cores. Multiple trees train simultaneously on the same dataset, with each thread operating on an independent tree structure.</a:t>
            </a:r>
            <a:endParaRPr lang="en-US" sz="1900" dirty="0"/>
          </a:p>
        </p:txBody>
      </p:sp>
      <p:sp>
        <p:nvSpPr>
          <p:cNvPr id="4" name="Shape 2">
            <a:extLst>
              <a:ext uri="{FF2B5EF4-FFF2-40B4-BE49-F238E27FC236}">
                <a16:creationId xmlns:a16="http://schemas.microsoft.com/office/drawing/2014/main" id="{37FD28B2-5A14-FFBB-C315-84E0D336B0A3}"/>
              </a:ext>
            </a:extLst>
          </p:cNvPr>
          <p:cNvSpPr/>
          <p:nvPr/>
        </p:nvSpPr>
        <p:spPr>
          <a:xfrm>
            <a:off x="863798" y="3831074"/>
            <a:ext cx="12902803" cy="1949291"/>
          </a:xfrm>
          <a:prstGeom prst="roundRect">
            <a:avLst>
              <a:gd name="adj" fmla="val 5318"/>
            </a:avLst>
          </a:prstGeom>
          <a:solidFill>
            <a:srgbClr val="162227"/>
          </a:solidFill>
          <a:ln/>
        </p:spPr>
      </p:sp>
      <p:sp>
        <p:nvSpPr>
          <p:cNvPr id="5" name="Shape 3">
            <a:extLst>
              <a:ext uri="{FF2B5EF4-FFF2-40B4-BE49-F238E27FC236}">
                <a16:creationId xmlns:a16="http://schemas.microsoft.com/office/drawing/2014/main" id="{E9FF6DB5-6CD6-D791-E240-8F3F4E4BCD24}"/>
              </a:ext>
            </a:extLst>
          </p:cNvPr>
          <p:cNvSpPr/>
          <p:nvPr/>
        </p:nvSpPr>
        <p:spPr>
          <a:xfrm>
            <a:off x="851535" y="3831074"/>
            <a:ext cx="12927330" cy="1949291"/>
          </a:xfrm>
          <a:prstGeom prst="roundRect">
            <a:avLst>
              <a:gd name="adj" fmla="val 1899"/>
            </a:avLst>
          </a:prstGeom>
          <a:solidFill>
            <a:srgbClr val="162227"/>
          </a:solidFill>
          <a:ln/>
        </p:spPr>
      </p:sp>
      <p:sp>
        <p:nvSpPr>
          <p:cNvPr id="6" name="Text 4">
            <a:extLst>
              <a:ext uri="{FF2B5EF4-FFF2-40B4-BE49-F238E27FC236}">
                <a16:creationId xmlns:a16="http://schemas.microsoft.com/office/drawing/2014/main" id="{EB41D912-303F-392D-2FFD-97FCEA52FEA0}"/>
              </a:ext>
            </a:extLst>
          </p:cNvPr>
          <p:cNvSpPr/>
          <p:nvPr/>
        </p:nvSpPr>
        <p:spPr>
          <a:xfrm>
            <a:off x="1098352" y="4016097"/>
            <a:ext cx="12433697"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#pragma omp parallel forfor (i = 0; i &lt; N_trees; i++) {  forest[i].train(dataset);}</a:t>
            </a:r>
            <a:endParaRPr lang="en-US" sz="1900" dirty="0"/>
          </a:p>
        </p:txBody>
      </p:sp>
      <p:sp>
        <p:nvSpPr>
          <p:cNvPr id="7" name="Text 5">
            <a:extLst>
              <a:ext uri="{FF2B5EF4-FFF2-40B4-BE49-F238E27FC236}">
                <a16:creationId xmlns:a16="http://schemas.microsoft.com/office/drawing/2014/main" id="{D1D29617-8AF0-3CD5-EF72-9F67BF2D5A65}"/>
              </a:ext>
            </a:extLst>
          </p:cNvPr>
          <p:cNvSpPr/>
          <p:nvPr/>
        </p:nvSpPr>
        <p:spPr>
          <a:xfrm>
            <a:off x="863798" y="6058019"/>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pragma directive automatically partitions iterations among threads, eliminating sequential bottlenecks.</a:t>
            </a:r>
            <a:endParaRPr lang="en-US" sz="1900" dirty="0"/>
          </a:p>
        </p:txBody>
      </p:sp>
    </p:spTree>
    <p:extLst>
      <p:ext uri="{BB962C8B-B14F-4D97-AF65-F5344CB8AC3E}">
        <p14:creationId xmlns:p14="http://schemas.microsoft.com/office/powerpoint/2010/main" val="2345847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EF24A76-12F5-DFE5-3596-341113EDED40}"/>
              </a:ext>
            </a:extLst>
          </p:cNvPr>
          <p:cNvSpPr/>
          <p:nvPr/>
        </p:nvSpPr>
        <p:spPr>
          <a:xfrm>
            <a:off x="786289" y="756999"/>
            <a:ext cx="5982533" cy="561618"/>
          </a:xfrm>
          <a:prstGeom prst="rect">
            <a:avLst/>
          </a:prstGeom>
          <a:noFill/>
          <a:ln/>
        </p:spPr>
        <p:txBody>
          <a:bodyPr wrap="none" lIns="0" tIns="0" rIns="0" bIns="0" rtlCol="0" anchor="t"/>
          <a:lstStyle/>
          <a:p>
            <a:pPr marL="0" indent="0" algn="l">
              <a:lnSpc>
                <a:spcPts val="4400"/>
              </a:lnSpc>
              <a:buNone/>
            </a:pPr>
            <a:r>
              <a:rPr lang="en-US" sz="3500" dirty="0">
                <a:solidFill>
                  <a:srgbClr val="F5F0F0"/>
                </a:solidFill>
                <a:latin typeface="Merriweather" pitchFamily="34" charset="0"/>
                <a:ea typeface="Merriweather" pitchFamily="34" charset="-122"/>
                <a:cs typeface="Merriweather" pitchFamily="34" charset="-120"/>
              </a:rPr>
              <a:t>Implementation Challenges</a:t>
            </a:r>
            <a:endParaRPr lang="en-US" sz="3500" dirty="0"/>
          </a:p>
        </p:txBody>
      </p:sp>
      <p:sp>
        <p:nvSpPr>
          <p:cNvPr id="3" name="Text 1">
            <a:extLst>
              <a:ext uri="{FF2B5EF4-FFF2-40B4-BE49-F238E27FC236}">
                <a16:creationId xmlns:a16="http://schemas.microsoft.com/office/drawing/2014/main" id="{F2489CBB-1035-521E-BD38-F26485868041}"/>
              </a:ext>
            </a:extLst>
          </p:cNvPr>
          <p:cNvSpPr/>
          <p:nvPr/>
        </p:nvSpPr>
        <p:spPr>
          <a:xfrm>
            <a:off x="786289" y="1767959"/>
            <a:ext cx="13057823" cy="3594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Parallel tree training introduces complexity across multiple dimensions:</a:t>
            </a:r>
            <a:endParaRPr lang="en-US" sz="1750" dirty="0"/>
          </a:p>
        </p:txBody>
      </p:sp>
      <p:sp>
        <p:nvSpPr>
          <p:cNvPr id="4" name="Shape 2">
            <a:extLst>
              <a:ext uri="{FF2B5EF4-FFF2-40B4-BE49-F238E27FC236}">
                <a16:creationId xmlns:a16="http://schemas.microsoft.com/office/drawing/2014/main" id="{41232425-3604-19DD-AD2D-BA75EDF58AFA}"/>
              </a:ext>
            </a:extLst>
          </p:cNvPr>
          <p:cNvSpPr/>
          <p:nvPr/>
        </p:nvSpPr>
        <p:spPr>
          <a:xfrm>
            <a:off x="786289" y="2380059"/>
            <a:ext cx="4202787" cy="2433876"/>
          </a:xfrm>
          <a:prstGeom prst="roundRect">
            <a:avLst>
              <a:gd name="adj" fmla="val 6011"/>
            </a:avLst>
          </a:prstGeom>
          <a:solidFill>
            <a:srgbClr val="09151A">
              <a:alpha val="95000"/>
            </a:srgbClr>
          </a:solidFill>
          <a:ln w="30480">
            <a:solidFill>
              <a:srgbClr val="194A99"/>
            </a:solidFill>
            <a:prstDash val="solid"/>
          </a:ln>
        </p:spPr>
      </p:sp>
      <p:sp>
        <p:nvSpPr>
          <p:cNvPr id="5" name="Shape 3">
            <a:extLst>
              <a:ext uri="{FF2B5EF4-FFF2-40B4-BE49-F238E27FC236}">
                <a16:creationId xmlns:a16="http://schemas.microsoft.com/office/drawing/2014/main" id="{BFC14A6D-3D8D-BAA3-E6DC-A2F79435ED51}"/>
              </a:ext>
            </a:extLst>
          </p:cNvPr>
          <p:cNvSpPr/>
          <p:nvPr/>
        </p:nvSpPr>
        <p:spPr>
          <a:xfrm>
            <a:off x="755809" y="2380059"/>
            <a:ext cx="121920" cy="2433876"/>
          </a:xfrm>
          <a:prstGeom prst="roundRect">
            <a:avLst>
              <a:gd name="adj" fmla="val 77400"/>
            </a:avLst>
          </a:prstGeom>
          <a:solidFill>
            <a:srgbClr val="609DFF"/>
          </a:solidFill>
          <a:ln/>
        </p:spPr>
      </p:sp>
      <p:sp>
        <p:nvSpPr>
          <p:cNvPr id="6" name="Text 4">
            <a:extLst>
              <a:ext uri="{FF2B5EF4-FFF2-40B4-BE49-F238E27FC236}">
                <a16:creationId xmlns:a16="http://schemas.microsoft.com/office/drawing/2014/main" id="{83BC6335-4576-3FC3-166A-F144A277F822}"/>
              </a:ext>
            </a:extLst>
          </p:cNvPr>
          <p:cNvSpPr/>
          <p:nvPr/>
        </p:nvSpPr>
        <p:spPr>
          <a:xfrm>
            <a:off x="1132880" y="2635210"/>
            <a:ext cx="3283387"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Thread Synchronization</a:t>
            </a:r>
            <a:endParaRPr lang="en-US" sz="2200" dirty="0"/>
          </a:p>
        </p:txBody>
      </p:sp>
      <p:sp>
        <p:nvSpPr>
          <p:cNvPr id="7" name="Text 5">
            <a:extLst>
              <a:ext uri="{FF2B5EF4-FFF2-40B4-BE49-F238E27FC236}">
                <a16:creationId xmlns:a16="http://schemas.microsoft.com/office/drawing/2014/main" id="{66579CFA-15CD-9D68-6E2C-A65A4A2629CB}"/>
              </a:ext>
            </a:extLst>
          </p:cNvPr>
          <p:cNvSpPr/>
          <p:nvPr/>
        </p:nvSpPr>
        <p:spPr>
          <a:xfrm>
            <a:off x="1132880" y="3120985"/>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Coordinating merging operations and preventing race conditions during ensemble assembly.</a:t>
            </a:r>
            <a:endParaRPr lang="en-US" sz="1750" dirty="0"/>
          </a:p>
        </p:txBody>
      </p:sp>
      <p:sp>
        <p:nvSpPr>
          <p:cNvPr id="8" name="Shape 6">
            <a:extLst>
              <a:ext uri="{FF2B5EF4-FFF2-40B4-BE49-F238E27FC236}">
                <a16:creationId xmlns:a16="http://schemas.microsoft.com/office/drawing/2014/main" id="{4A56613C-7636-AF27-204F-EF3C257C2A3F}"/>
              </a:ext>
            </a:extLst>
          </p:cNvPr>
          <p:cNvSpPr/>
          <p:nvPr/>
        </p:nvSpPr>
        <p:spPr>
          <a:xfrm>
            <a:off x="5213747" y="2380059"/>
            <a:ext cx="4202787" cy="2433876"/>
          </a:xfrm>
          <a:prstGeom prst="roundRect">
            <a:avLst>
              <a:gd name="adj" fmla="val 6011"/>
            </a:avLst>
          </a:prstGeom>
          <a:solidFill>
            <a:srgbClr val="09151A">
              <a:alpha val="95000"/>
            </a:srgbClr>
          </a:solidFill>
          <a:ln w="30480">
            <a:solidFill>
              <a:srgbClr val="194A99"/>
            </a:solidFill>
            <a:prstDash val="solid"/>
          </a:ln>
        </p:spPr>
      </p:sp>
      <p:sp>
        <p:nvSpPr>
          <p:cNvPr id="9" name="Shape 7">
            <a:extLst>
              <a:ext uri="{FF2B5EF4-FFF2-40B4-BE49-F238E27FC236}">
                <a16:creationId xmlns:a16="http://schemas.microsoft.com/office/drawing/2014/main" id="{58D01D76-1988-A8D1-A897-63DCF6C81FE8}"/>
              </a:ext>
            </a:extLst>
          </p:cNvPr>
          <p:cNvSpPr/>
          <p:nvPr/>
        </p:nvSpPr>
        <p:spPr>
          <a:xfrm>
            <a:off x="5183267" y="2380059"/>
            <a:ext cx="121920" cy="2433876"/>
          </a:xfrm>
          <a:prstGeom prst="roundRect">
            <a:avLst>
              <a:gd name="adj" fmla="val 77400"/>
            </a:avLst>
          </a:prstGeom>
          <a:solidFill>
            <a:srgbClr val="609DFF"/>
          </a:solidFill>
          <a:ln/>
        </p:spPr>
      </p:sp>
      <p:sp>
        <p:nvSpPr>
          <p:cNvPr id="10" name="Text 8">
            <a:extLst>
              <a:ext uri="{FF2B5EF4-FFF2-40B4-BE49-F238E27FC236}">
                <a16:creationId xmlns:a16="http://schemas.microsoft.com/office/drawing/2014/main" id="{019251FF-8D86-B952-4A7B-34BDFAA3C51C}"/>
              </a:ext>
            </a:extLst>
          </p:cNvPr>
          <p:cNvSpPr/>
          <p:nvPr/>
        </p:nvSpPr>
        <p:spPr>
          <a:xfrm>
            <a:off x="5560338" y="2635210"/>
            <a:ext cx="3016448"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Memory Management</a:t>
            </a:r>
            <a:endParaRPr lang="en-US" sz="2200" dirty="0"/>
          </a:p>
        </p:txBody>
      </p:sp>
      <p:sp>
        <p:nvSpPr>
          <p:cNvPr id="11" name="Text 9">
            <a:extLst>
              <a:ext uri="{FF2B5EF4-FFF2-40B4-BE49-F238E27FC236}">
                <a16:creationId xmlns:a16="http://schemas.microsoft.com/office/drawing/2014/main" id="{8BE9374A-E97B-B1B3-9E96-9485E3ED235D}"/>
              </a:ext>
            </a:extLst>
          </p:cNvPr>
          <p:cNvSpPr/>
          <p:nvPr/>
        </p:nvSpPr>
        <p:spPr>
          <a:xfrm>
            <a:off x="5560338" y="3120985"/>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Allocating and managing shared memory space efficiently across threads without contention or false sharing.</a:t>
            </a:r>
            <a:endParaRPr lang="en-US" sz="1750" dirty="0"/>
          </a:p>
        </p:txBody>
      </p:sp>
      <p:sp>
        <p:nvSpPr>
          <p:cNvPr id="12" name="Shape 10">
            <a:extLst>
              <a:ext uri="{FF2B5EF4-FFF2-40B4-BE49-F238E27FC236}">
                <a16:creationId xmlns:a16="http://schemas.microsoft.com/office/drawing/2014/main" id="{50934C42-9C8F-F49B-E229-4C13E8915987}"/>
              </a:ext>
            </a:extLst>
          </p:cNvPr>
          <p:cNvSpPr/>
          <p:nvPr/>
        </p:nvSpPr>
        <p:spPr>
          <a:xfrm>
            <a:off x="9641205" y="2380059"/>
            <a:ext cx="4202787" cy="2433876"/>
          </a:xfrm>
          <a:prstGeom prst="roundRect">
            <a:avLst>
              <a:gd name="adj" fmla="val 6011"/>
            </a:avLst>
          </a:prstGeom>
          <a:solidFill>
            <a:srgbClr val="09151A">
              <a:alpha val="95000"/>
            </a:srgbClr>
          </a:solidFill>
          <a:ln w="30480">
            <a:solidFill>
              <a:srgbClr val="194A99"/>
            </a:solidFill>
            <a:prstDash val="solid"/>
          </a:ln>
        </p:spPr>
      </p:sp>
      <p:sp>
        <p:nvSpPr>
          <p:cNvPr id="13" name="Shape 11">
            <a:extLst>
              <a:ext uri="{FF2B5EF4-FFF2-40B4-BE49-F238E27FC236}">
                <a16:creationId xmlns:a16="http://schemas.microsoft.com/office/drawing/2014/main" id="{84422523-B21C-3D59-A6A9-0D9B3EF00E71}"/>
              </a:ext>
            </a:extLst>
          </p:cNvPr>
          <p:cNvSpPr/>
          <p:nvPr/>
        </p:nvSpPr>
        <p:spPr>
          <a:xfrm>
            <a:off x="9610725" y="2380059"/>
            <a:ext cx="121920" cy="2433876"/>
          </a:xfrm>
          <a:prstGeom prst="roundRect">
            <a:avLst>
              <a:gd name="adj" fmla="val 77400"/>
            </a:avLst>
          </a:prstGeom>
          <a:solidFill>
            <a:srgbClr val="609DFF"/>
          </a:solidFill>
          <a:ln/>
        </p:spPr>
      </p:sp>
      <p:sp>
        <p:nvSpPr>
          <p:cNvPr id="14" name="Text 12">
            <a:extLst>
              <a:ext uri="{FF2B5EF4-FFF2-40B4-BE49-F238E27FC236}">
                <a16:creationId xmlns:a16="http://schemas.microsoft.com/office/drawing/2014/main" id="{4FC7C42E-8D7E-64E3-7A63-AB65A0DD76CF}"/>
              </a:ext>
            </a:extLst>
          </p:cNvPr>
          <p:cNvSpPr/>
          <p:nvPr/>
        </p:nvSpPr>
        <p:spPr>
          <a:xfrm>
            <a:off x="9987796" y="2635210"/>
            <a:ext cx="2808446"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Load Balancing</a:t>
            </a:r>
            <a:endParaRPr lang="en-US" sz="2200" dirty="0"/>
          </a:p>
        </p:txBody>
      </p:sp>
      <p:sp>
        <p:nvSpPr>
          <p:cNvPr id="15" name="Text 13">
            <a:extLst>
              <a:ext uri="{FF2B5EF4-FFF2-40B4-BE49-F238E27FC236}">
                <a16:creationId xmlns:a16="http://schemas.microsoft.com/office/drawing/2014/main" id="{BA5D1899-07C5-CA34-27CC-57286DF5C50E}"/>
              </a:ext>
            </a:extLst>
          </p:cNvPr>
          <p:cNvSpPr/>
          <p:nvPr/>
        </p:nvSpPr>
        <p:spPr>
          <a:xfrm>
            <a:off x="9987796" y="3120985"/>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Distributing workload evenly when tree construction times vary based on dataset characteristics.</a:t>
            </a:r>
            <a:endParaRPr lang="en-US" sz="1750" dirty="0"/>
          </a:p>
        </p:txBody>
      </p:sp>
      <p:sp>
        <p:nvSpPr>
          <p:cNvPr id="16" name="Shape 14">
            <a:extLst>
              <a:ext uri="{FF2B5EF4-FFF2-40B4-BE49-F238E27FC236}">
                <a16:creationId xmlns:a16="http://schemas.microsoft.com/office/drawing/2014/main" id="{C8FF6FA9-8490-055A-3D1A-9967AEAC8E4A}"/>
              </a:ext>
            </a:extLst>
          </p:cNvPr>
          <p:cNvSpPr/>
          <p:nvPr/>
        </p:nvSpPr>
        <p:spPr>
          <a:xfrm>
            <a:off x="786289" y="5038606"/>
            <a:ext cx="4202787" cy="2433876"/>
          </a:xfrm>
          <a:prstGeom prst="roundRect">
            <a:avLst>
              <a:gd name="adj" fmla="val 6011"/>
            </a:avLst>
          </a:prstGeom>
          <a:solidFill>
            <a:srgbClr val="09151A">
              <a:alpha val="95000"/>
            </a:srgbClr>
          </a:solidFill>
          <a:ln w="30480">
            <a:solidFill>
              <a:srgbClr val="194A99"/>
            </a:solidFill>
            <a:prstDash val="solid"/>
          </a:ln>
        </p:spPr>
      </p:sp>
      <p:sp>
        <p:nvSpPr>
          <p:cNvPr id="17" name="Shape 15">
            <a:extLst>
              <a:ext uri="{FF2B5EF4-FFF2-40B4-BE49-F238E27FC236}">
                <a16:creationId xmlns:a16="http://schemas.microsoft.com/office/drawing/2014/main" id="{B108B31F-717D-4445-4DCE-3D4743168C94}"/>
              </a:ext>
            </a:extLst>
          </p:cNvPr>
          <p:cNvSpPr/>
          <p:nvPr/>
        </p:nvSpPr>
        <p:spPr>
          <a:xfrm>
            <a:off x="755809" y="5038606"/>
            <a:ext cx="121920" cy="2433876"/>
          </a:xfrm>
          <a:prstGeom prst="roundRect">
            <a:avLst>
              <a:gd name="adj" fmla="val 77400"/>
            </a:avLst>
          </a:prstGeom>
          <a:solidFill>
            <a:srgbClr val="609DFF"/>
          </a:solidFill>
          <a:ln/>
        </p:spPr>
      </p:sp>
      <p:sp>
        <p:nvSpPr>
          <p:cNvPr id="18" name="Text 16">
            <a:extLst>
              <a:ext uri="{FF2B5EF4-FFF2-40B4-BE49-F238E27FC236}">
                <a16:creationId xmlns:a16="http://schemas.microsoft.com/office/drawing/2014/main" id="{BB9EE834-D076-DE81-13C4-A42738B9383F}"/>
              </a:ext>
            </a:extLst>
          </p:cNvPr>
          <p:cNvSpPr/>
          <p:nvPr/>
        </p:nvSpPr>
        <p:spPr>
          <a:xfrm>
            <a:off x="1132880" y="5293757"/>
            <a:ext cx="2808446"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Scaling Limitations</a:t>
            </a:r>
            <a:endParaRPr lang="en-US" sz="2200" dirty="0"/>
          </a:p>
        </p:txBody>
      </p:sp>
      <p:sp>
        <p:nvSpPr>
          <p:cNvPr id="19" name="Text 17">
            <a:extLst>
              <a:ext uri="{FF2B5EF4-FFF2-40B4-BE49-F238E27FC236}">
                <a16:creationId xmlns:a16="http://schemas.microsoft.com/office/drawing/2014/main" id="{1545DE5C-43F7-D1E2-4242-C26C0E968CD1}"/>
              </a:ext>
            </a:extLst>
          </p:cNvPr>
          <p:cNvSpPr/>
          <p:nvPr/>
        </p:nvSpPr>
        <p:spPr>
          <a:xfrm>
            <a:off x="1132880" y="5779532"/>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Speedup diminishes beyond physical core count due to thread overhead and memory bandwidth constraints.</a:t>
            </a:r>
            <a:endParaRPr lang="en-US" sz="1750" dirty="0"/>
          </a:p>
        </p:txBody>
      </p:sp>
      <p:sp>
        <p:nvSpPr>
          <p:cNvPr id="20" name="Shape 18">
            <a:extLst>
              <a:ext uri="{FF2B5EF4-FFF2-40B4-BE49-F238E27FC236}">
                <a16:creationId xmlns:a16="http://schemas.microsoft.com/office/drawing/2014/main" id="{4B4A6D4E-0E18-36C2-8E41-D955854F13B8}"/>
              </a:ext>
            </a:extLst>
          </p:cNvPr>
          <p:cNvSpPr/>
          <p:nvPr/>
        </p:nvSpPr>
        <p:spPr>
          <a:xfrm>
            <a:off x="5213747" y="5038606"/>
            <a:ext cx="4202787" cy="2433876"/>
          </a:xfrm>
          <a:prstGeom prst="roundRect">
            <a:avLst>
              <a:gd name="adj" fmla="val 6011"/>
            </a:avLst>
          </a:prstGeom>
          <a:solidFill>
            <a:srgbClr val="09151A">
              <a:alpha val="95000"/>
            </a:srgbClr>
          </a:solidFill>
          <a:ln w="30480">
            <a:solidFill>
              <a:srgbClr val="194A99"/>
            </a:solidFill>
            <a:prstDash val="solid"/>
          </a:ln>
        </p:spPr>
      </p:sp>
      <p:sp>
        <p:nvSpPr>
          <p:cNvPr id="21" name="Shape 19">
            <a:extLst>
              <a:ext uri="{FF2B5EF4-FFF2-40B4-BE49-F238E27FC236}">
                <a16:creationId xmlns:a16="http://schemas.microsoft.com/office/drawing/2014/main" id="{1741C6FE-1B8A-69D3-866E-7E8609421308}"/>
              </a:ext>
            </a:extLst>
          </p:cNvPr>
          <p:cNvSpPr/>
          <p:nvPr/>
        </p:nvSpPr>
        <p:spPr>
          <a:xfrm>
            <a:off x="5183267" y="5038606"/>
            <a:ext cx="121920" cy="2433876"/>
          </a:xfrm>
          <a:prstGeom prst="roundRect">
            <a:avLst>
              <a:gd name="adj" fmla="val 77400"/>
            </a:avLst>
          </a:prstGeom>
          <a:solidFill>
            <a:srgbClr val="609DFF"/>
          </a:solidFill>
          <a:ln/>
        </p:spPr>
      </p:sp>
      <p:sp>
        <p:nvSpPr>
          <p:cNvPr id="22" name="Text 20">
            <a:extLst>
              <a:ext uri="{FF2B5EF4-FFF2-40B4-BE49-F238E27FC236}">
                <a16:creationId xmlns:a16="http://schemas.microsoft.com/office/drawing/2014/main" id="{361166FF-6EDB-B251-355C-FDAB84556650}"/>
              </a:ext>
            </a:extLst>
          </p:cNvPr>
          <p:cNvSpPr/>
          <p:nvPr/>
        </p:nvSpPr>
        <p:spPr>
          <a:xfrm>
            <a:off x="5560338" y="5293757"/>
            <a:ext cx="3108127"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Debugging Complexity</a:t>
            </a:r>
            <a:endParaRPr lang="en-US" sz="2200" dirty="0"/>
          </a:p>
        </p:txBody>
      </p:sp>
      <p:sp>
        <p:nvSpPr>
          <p:cNvPr id="23" name="Text 21">
            <a:extLst>
              <a:ext uri="{FF2B5EF4-FFF2-40B4-BE49-F238E27FC236}">
                <a16:creationId xmlns:a16="http://schemas.microsoft.com/office/drawing/2014/main" id="{CCE607FD-3A35-5833-7BA0-2BEB4D81BDB5}"/>
              </a:ext>
            </a:extLst>
          </p:cNvPr>
          <p:cNvSpPr/>
          <p:nvPr/>
        </p:nvSpPr>
        <p:spPr>
          <a:xfrm>
            <a:off x="5560338" y="5779532"/>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Identifying and resolving race conditions, deadlocks, and non-deterministic behavior in parallel execution.</a:t>
            </a:r>
            <a:endParaRPr lang="en-US" sz="1750" dirty="0"/>
          </a:p>
        </p:txBody>
      </p:sp>
    </p:spTree>
    <p:extLst>
      <p:ext uri="{BB962C8B-B14F-4D97-AF65-F5344CB8AC3E}">
        <p14:creationId xmlns:p14="http://schemas.microsoft.com/office/powerpoint/2010/main" val="3134072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BEB6E7A-C369-34D8-1517-153F9DEB55B7}"/>
              </a:ext>
            </a:extLst>
          </p:cNvPr>
          <p:cNvSpPr/>
          <p:nvPr/>
        </p:nvSpPr>
        <p:spPr>
          <a:xfrm>
            <a:off x="863798" y="1605439"/>
            <a:ext cx="510540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Experimental Results</a:t>
            </a:r>
            <a:endParaRPr lang="en-US" sz="3850" dirty="0"/>
          </a:p>
        </p:txBody>
      </p:sp>
      <p:sp>
        <p:nvSpPr>
          <p:cNvPr id="3" name="Text 1">
            <a:extLst>
              <a:ext uri="{FF2B5EF4-FFF2-40B4-BE49-F238E27FC236}">
                <a16:creationId xmlns:a16="http://schemas.microsoft.com/office/drawing/2014/main" id="{8AE15B9D-8199-751F-C287-7A9EF5687FA7}"/>
              </a:ext>
            </a:extLst>
          </p:cNvPr>
          <p:cNvSpPr/>
          <p:nvPr/>
        </p:nvSpPr>
        <p:spPr>
          <a:xfrm>
            <a:off x="863798" y="2592586"/>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Testing parallel versus serial implementations on representative datasets demonstrates measurable improvements with maintained model accuracy.</a:t>
            </a:r>
            <a:endParaRPr lang="en-US" sz="1900" dirty="0"/>
          </a:p>
        </p:txBody>
      </p:sp>
      <p:sp>
        <p:nvSpPr>
          <p:cNvPr id="4" name="Text 2">
            <a:extLst>
              <a:ext uri="{FF2B5EF4-FFF2-40B4-BE49-F238E27FC236}">
                <a16:creationId xmlns:a16="http://schemas.microsoft.com/office/drawing/2014/main" id="{EF1BB39D-B563-3440-36C5-437C94D069F2}"/>
              </a:ext>
            </a:extLst>
          </p:cNvPr>
          <p:cNvSpPr/>
          <p:nvPr/>
        </p:nvSpPr>
        <p:spPr>
          <a:xfrm>
            <a:off x="863798" y="3783211"/>
            <a:ext cx="4095274" cy="814507"/>
          </a:xfrm>
          <a:prstGeom prst="rect">
            <a:avLst/>
          </a:prstGeom>
          <a:noFill/>
          <a:ln/>
        </p:spPr>
        <p:txBody>
          <a:bodyPr wrap="none" lIns="0" tIns="0" rIns="0" bIns="0" rtlCol="0" anchor="t"/>
          <a:lstStyle/>
          <a:p>
            <a:pPr marL="0" indent="0" algn="ctr">
              <a:lnSpc>
                <a:spcPts val="6400"/>
              </a:lnSpc>
              <a:buNone/>
            </a:pPr>
            <a:r>
              <a:rPr lang="en-US" sz="6400" dirty="0">
                <a:solidFill>
                  <a:srgbClr val="E2E6E9"/>
                </a:solidFill>
                <a:latin typeface="Merriweather" pitchFamily="34" charset="0"/>
                <a:ea typeface="Merriweather" pitchFamily="34" charset="-122"/>
                <a:cs typeface="Merriweather" pitchFamily="34" charset="-120"/>
              </a:rPr>
              <a:t>1.5×</a:t>
            </a:r>
            <a:endParaRPr lang="en-US" sz="6400" dirty="0"/>
          </a:p>
        </p:txBody>
      </p:sp>
      <p:sp>
        <p:nvSpPr>
          <p:cNvPr id="5" name="Text 3">
            <a:extLst>
              <a:ext uri="{FF2B5EF4-FFF2-40B4-BE49-F238E27FC236}">
                <a16:creationId xmlns:a16="http://schemas.microsoft.com/office/drawing/2014/main" id="{380B0BE2-7DAD-7569-F07C-6FC5F40C6A0D}"/>
              </a:ext>
            </a:extLst>
          </p:cNvPr>
          <p:cNvSpPr/>
          <p:nvPr/>
        </p:nvSpPr>
        <p:spPr>
          <a:xfrm>
            <a:off x="1368743" y="4906089"/>
            <a:ext cx="3085386" cy="385524"/>
          </a:xfrm>
          <a:prstGeom prst="rect">
            <a:avLst/>
          </a:prstGeom>
          <a:noFill/>
          <a:ln/>
        </p:spPr>
        <p:txBody>
          <a:bodyPr wrap="none" lIns="0" tIns="0" rIns="0" bIns="0" rtlCol="0" anchor="t"/>
          <a:lstStyle/>
          <a:p>
            <a:pPr marL="0" indent="0" algn="ctr">
              <a:lnSpc>
                <a:spcPts val="3000"/>
              </a:lnSpc>
              <a:buNone/>
            </a:pPr>
            <a:r>
              <a:rPr lang="en-US" sz="2400" dirty="0">
                <a:solidFill>
                  <a:srgbClr val="E2E6E9"/>
                </a:solidFill>
                <a:latin typeface="Merriweather" pitchFamily="34" charset="0"/>
                <a:ea typeface="Merriweather" pitchFamily="34" charset="-122"/>
                <a:cs typeface="Merriweather" pitchFamily="34" charset="-120"/>
              </a:rPr>
              <a:t>Average Speedup</a:t>
            </a:r>
            <a:endParaRPr lang="en-US" sz="2400" dirty="0"/>
          </a:p>
        </p:txBody>
      </p:sp>
      <p:sp>
        <p:nvSpPr>
          <p:cNvPr id="6" name="Text 4">
            <a:extLst>
              <a:ext uri="{FF2B5EF4-FFF2-40B4-BE49-F238E27FC236}">
                <a16:creationId xmlns:a16="http://schemas.microsoft.com/office/drawing/2014/main" id="{70F5ED5E-9B04-A266-4323-7FF7A0BDE3D1}"/>
              </a:ext>
            </a:extLst>
          </p:cNvPr>
          <p:cNvSpPr/>
          <p:nvPr/>
        </p:nvSpPr>
        <p:spPr>
          <a:xfrm>
            <a:off x="863798" y="5439608"/>
            <a:ext cx="4095274" cy="1184434"/>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 execution reduces total training time by 1–2× compared to serial baseline.</a:t>
            </a:r>
            <a:endParaRPr lang="en-US" sz="1900" dirty="0"/>
          </a:p>
        </p:txBody>
      </p:sp>
      <p:sp>
        <p:nvSpPr>
          <p:cNvPr id="7" name="Text 5">
            <a:extLst>
              <a:ext uri="{FF2B5EF4-FFF2-40B4-BE49-F238E27FC236}">
                <a16:creationId xmlns:a16="http://schemas.microsoft.com/office/drawing/2014/main" id="{7C38C7E7-9DE4-FBC6-7921-8C2EB88062FA}"/>
              </a:ext>
            </a:extLst>
          </p:cNvPr>
          <p:cNvSpPr/>
          <p:nvPr/>
        </p:nvSpPr>
        <p:spPr>
          <a:xfrm>
            <a:off x="5267563" y="3783211"/>
            <a:ext cx="4095274" cy="814507"/>
          </a:xfrm>
          <a:prstGeom prst="rect">
            <a:avLst/>
          </a:prstGeom>
          <a:noFill/>
          <a:ln/>
        </p:spPr>
        <p:txBody>
          <a:bodyPr wrap="none" lIns="0" tIns="0" rIns="0" bIns="0" rtlCol="0" anchor="t"/>
          <a:lstStyle/>
          <a:p>
            <a:pPr marL="0" indent="0" algn="ctr">
              <a:lnSpc>
                <a:spcPts val="6400"/>
              </a:lnSpc>
              <a:buNone/>
            </a:pPr>
            <a:r>
              <a:rPr lang="en-US" sz="6400" dirty="0">
                <a:solidFill>
                  <a:srgbClr val="E2E6E9"/>
                </a:solidFill>
                <a:latin typeface="Merriweather" pitchFamily="34" charset="0"/>
                <a:ea typeface="Merriweather" pitchFamily="34" charset="-122"/>
                <a:cs typeface="Merriweather" pitchFamily="34" charset="-120"/>
              </a:rPr>
              <a:t>87%</a:t>
            </a:r>
            <a:endParaRPr lang="en-US" sz="6400" dirty="0"/>
          </a:p>
        </p:txBody>
      </p:sp>
      <p:sp>
        <p:nvSpPr>
          <p:cNvPr id="8" name="Text 6">
            <a:extLst>
              <a:ext uri="{FF2B5EF4-FFF2-40B4-BE49-F238E27FC236}">
                <a16:creationId xmlns:a16="http://schemas.microsoft.com/office/drawing/2014/main" id="{0D8C9B98-1CC0-2A56-F2ED-9B06BAC69372}"/>
              </a:ext>
            </a:extLst>
          </p:cNvPr>
          <p:cNvSpPr/>
          <p:nvPr/>
        </p:nvSpPr>
        <p:spPr>
          <a:xfrm>
            <a:off x="5772507" y="4906089"/>
            <a:ext cx="3085386" cy="385524"/>
          </a:xfrm>
          <a:prstGeom prst="rect">
            <a:avLst/>
          </a:prstGeom>
          <a:noFill/>
          <a:ln/>
        </p:spPr>
        <p:txBody>
          <a:bodyPr wrap="none" lIns="0" tIns="0" rIns="0" bIns="0" rtlCol="0" anchor="t"/>
          <a:lstStyle/>
          <a:p>
            <a:pPr marL="0" indent="0" algn="ctr">
              <a:lnSpc>
                <a:spcPts val="3000"/>
              </a:lnSpc>
              <a:buNone/>
            </a:pPr>
            <a:r>
              <a:rPr lang="en-US" sz="2400" dirty="0">
                <a:solidFill>
                  <a:srgbClr val="E2E6E9"/>
                </a:solidFill>
                <a:latin typeface="Merriweather" pitchFamily="34" charset="0"/>
                <a:ea typeface="Merriweather" pitchFamily="34" charset="-122"/>
                <a:cs typeface="Merriweather" pitchFamily="34" charset="-120"/>
              </a:rPr>
              <a:t>Parallel Efficiency</a:t>
            </a:r>
            <a:endParaRPr lang="en-US" sz="2400" dirty="0"/>
          </a:p>
        </p:txBody>
      </p:sp>
      <p:sp>
        <p:nvSpPr>
          <p:cNvPr id="9" name="Text 7">
            <a:extLst>
              <a:ext uri="{FF2B5EF4-FFF2-40B4-BE49-F238E27FC236}">
                <a16:creationId xmlns:a16="http://schemas.microsoft.com/office/drawing/2014/main" id="{741B8EFF-431C-D431-7527-22A618EFFB75}"/>
              </a:ext>
            </a:extLst>
          </p:cNvPr>
          <p:cNvSpPr/>
          <p:nvPr/>
        </p:nvSpPr>
        <p:spPr>
          <a:xfrm>
            <a:off x="5267563" y="5439608"/>
            <a:ext cx="4095274" cy="1184434"/>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High efficiency retention across multiple core counts, averaging 80–95% of theoretical maximum.</a:t>
            </a:r>
            <a:endParaRPr lang="en-US" sz="1900" dirty="0"/>
          </a:p>
        </p:txBody>
      </p:sp>
      <p:sp>
        <p:nvSpPr>
          <p:cNvPr id="10" name="Text 8">
            <a:extLst>
              <a:ext uri="{FF2B5EF4-FFF2-40B4-BE49-F238E27FC236}">
                <a16:creationId xmlns:a16="http://schemas.microsoft.com/office/drawing/2014/main" id="{7298571F-D9FE-8FB0-03C2-3B1FF412A9E6}"/>
              </a:ext>
            </a:extLst>
          </p:cNvPr>
          <p:cNvSpPr/>
          <p:nvPr/>
        </p:nvSpPr>
        <p:spPr>
          <a:xfrm>
            <a:off x="9671328" y="3783211"/>
            <a:ext cx="4095274" cy="814507"/>
          </a:xfrm>
          <a:prstGeom prst="rect">
            <a:avLst/>
          </a:prstGeom>
          <a:noFill/>
          <a:ln/>
        </p:spPr>
        <p:txBody>
          <a:bodyPr wrap="none" lIns="0" tIns="0" rIns="0" bIns="0" rtlCol="0" anchor="t"/>
          <a:lstStyle/>
          <a:p>
            <a:pPr marL="0" indent="0" algn="ctr">
              <a:lnSpc>
                <a:spcPts val="6400"/>
              </a:lnSpc>
              <a:buNone/>
            </a:pPr>
            <a:r>
              <a:rPr lang="en-US" sz="6400" dirty="0">
                <a:solidFill>
                  <a:srgbClr val="E2E6E9"/>
                </a:solidFill>
                <a:latin typeface="Merriweather" pitchFamily="34" charset="0"/>
                <a:ea typeface="Merriweather" pitchFamily="34" charset="-122"/>
                <a:cs typeface="Merriweather" pitchFamily="34" charset="-120"/>
              </a:rPr>
              <a:t>100%</a:t>
            </a:r>
            <a:endParaRPr lang="en-US" sz="6400" dirty="0"/>
          </a:p>
        </p:txBody>
      </p:sp>
      <p:sp>
        <p:nvSpPr>
          <p:cNvPr id="11" name="Text 9">
            <a:extLst>
              <a:ext uri="{FF2B5EF4-FFF2-40B4-BE49-F238E27FC236}">
                <a16:creationId xmlns:a16="http://schemas.microsoft.com/office/drawing/2014/main" id="{6F4D98DD-8D5B-922E-AACC-F5085DC64734}"/>
              </a:ext>
            </a:extLst>
          </p:cNvPr>
          <p:cNvSpPr/>
          <p:nvPr/>
        </p:nvSpPr>
        <p:spPr>
          <a:xfrm>
            <a:off x="10059233" y="4906089"/>
            <a:ext cx="3319462" cy="385524"/>
          </a:xfrm>
          <a:prstGeom prst="rect">
            <a:avLst/>
          </a:prstGeom>
          <a:noFill/>
          <a:ln/>
        </p:spPr>
        <p:txBody>
          <a:bodyPr wrap="none" lIns="0" tIns="0" rIns="0" bIns="0" rtlCol="0" anchor="t"/>
          <a:lstStyle/>
          <a:p>
            <a:pPr marL="0" indent="0" algn="ctr">
              <a:lnSpc>
                <a:spcPts val="3000"/>
              </a:lnSpc>
              <a:buNone/>
            </a:pPr>
            <a:r>
              <a:rPr lang="en-US" sz="2400" dirty="0">
                <a:solidFill>
                  <a:srgbClr val="E2E6E9"/>
                </a:solidFill>
                <a:latin typeface="Merriweather" pitchFamily="34" charset="0"/>
                <a:ea typeface="Merriweather" pitchFamily="34" charset="-122"/>
                <a:cs typeface="Merriweather" pitchFamily="34" charset="-120"/>
              </a:rPr>
              <a:t>Accuracy Preservation</a:t>
            </a:r>
            <a:endParaRPr lang="en-US" sz="2400" dirty="0"/>
          </a:p>
        </p:txBody>
      </p:sp>
      <p:sp>
        <p:nvSpPr>
          <p:cNvPr id="12" name="Text 10">
            <a:extLst>
              <a:ext uri="{FF2B5EF4-FFF2-40B4-BE49-F238E27FC236}">
                <a16:creationId xmlns:a16="http://schemas.microsoft.com/office/drawing/2014/main" id="{8FCF03DC-865C-A63D-4480-72B72F08E522}"/>
              </a:ext>
            </a:extLst>
          </p:cNvPr>
          <p:cNvSpPr/>
          <p:nvPr/>
        </p:nvSpPr>
        <p:spPr>
          <a:xfrm>
            <a:off x="9671328" y="5439608"/>
            <a:ext cx="4095274" cy="1184434"/>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Model predictions and ensemble behavior remain identical to serial implementation.</a:t>
            </a:r>
            <a:endParaRPr lang="en-US" sz="1900" dirty="0"/>
          </a:p>
        </p:txBody>
      </p:sp>
    </p:spTree>
    <p:extLst>
      <p:ext uri="{BB962C8B-B14F-4D97-AF65-F5344CB8AC3E}">
        <p14:creationId xmlns:p14="http://schemas.microsoft.com/office/powerpoint/2010/main" val="2097409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B9608A1-B2D0-BF9D-9A77-7BBE4D87D918}"/>
              </a:ext>
            </a:extLst>
          </p:cNvPr>
          <p:cNvSpPr/>
          <p:nvPr/>
        </p:nvSpPr>
        <p:spPr>
          <a:xfrm>
            <a:off x="863798" y="1615321"/>
            <a:ext cx="800231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Performance Metrics Comparison</a:t>
            </a:r>
            <a:endParaRPr lang="en-US" sz="3850" dirty="0"/>
          </a:p>
        </p:txBody>
      </p:sp>
      <p:sp>
        <p:nvSpPr>
          <p:cNvPr id="3" name="Text 1">
            <a:extLst>
              <a:ext uri="{FF2B5EF4-FFF2-40B4-BE49-F238E27FC236}">
                <a16:creationId xmlns:a16="http://schemas.microsoft.com/office/drawing/2014/main" id="{82707A73-7745-B9B1-0FF6-5EA450915427}"/>
              </a:ext>
            </a:extLst>
          </p:cNvPr>
          <p:cNvSpPr/>
          <p:nvPr/>
        </p:nvSpPr>
        <p:spPr>
          <a:xfrm>
            <a:off x="863798" y="2725936"/>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Detailed analysis of execution time and efficiency across implementation variants:</a:t>
            </a:r>
            <a:endParaRPr lang="en-US" sz="1900" dirty="0"/>
          </a:p>
        </p:txBody>
      </p:sp>
      <p:sp>
        <p:nvSpPr>
          <p:cNvPr id="4" name="Shape 2">
            <a:extLst>
              <a:ext uri="{FF2B5EF4-FFF2-40B4-BE49-F238E27FC236}">
                <a16:creationId xmlns:a16="http://schemas.microsoft.com/office/drawing/2014/main" id="{44B3ADC1-09B8-A0A8-2840-38D4B62D9130}"/>
              </a:ext>
            </a:extLst>
          </p:cNvPr>
          <p:cNvSpPr/>
          <p:nvPr/>
        </p:nvSpPr>
        <p:spPr>
          <a:xfrm>
            <a:off x="863798" y="3398401"/>
            <a:ext cx="12902803" cy="2148602"/>
          </a:xfrm>
          <a:prstGeom prst="roundRect">
            <a:avLst>
              <a:gd name="adj" fmla="val 4825"/>
            </a:avLst>
          </a:prstGeom>
          <a:noFill/>
          <a:ln w="15240">
            <a:solidFill>
              <a:srgbClr val="FFFFFF">
                <a:alpha val="24000"/>
              </a:srgbClr>
            </a:solidFill>
            <a:prstDash val="solid"/>
          </a:ln>
        </p:spPr>
      </p:sp>
      <p:sp>
        <p:nvSpPr>
          <p:cNvPr id="5" name="Shape 3">
            <a:extLst>
              <a:ext uri="{FF2B5EF4-FFF2-40B4-BE49-F238E27FC236}">
                <a16:creationId xmlns:a16="http://schemas.microsoft.com/office/drawing/2014/main" id="{564D2250-627C-4177-5448-61A7F358F262}"/>
              </a:ext>
            </a:extLst>
          </p:cNvPr>
          <p:cNvSpPr/>
          <p:nvPr/>
        </p:nvSpPr>
        <p:spPr>
          <a:xfrm>
            <a:off x="879038" y="3413641"/>
            <a:ext cx="12872323" cy="706041"/>
          </a:xfrm>
          <a:prstGeom prst="rect">
            <a:avLst/>
          </a:prstGeom>
          <a:solidFill>
            <a:srgbClr val="FFFFFF">
              <a:alpha val="4000"/>
            </a:srgbClr>
          </a:solidFill>
          <a:ln/>
        </p:spPr>
      </p:sp>
      <p:sp>
        <p:nvSpPr>
          <p:cNvPr id="6" name="Text 4">
            <a:extLst>
              <a:ext uri="{FF2B5EF4-FFF2-40B4-BE49-F238E27FC236}">
                <a16:creationId xmlns:a16="http://schemas.microsoft.com/office/drawing/2014/main" id="{EE0666C3-F3BD-5AFC-B67E-54D0D074A405}"/>
              </a:ext>
            </a:extLst>
          </p:cNvPr>
          <p:cNvSpPr/>
          <p:nvPr/>
        </p:nvSpPr>
        <p:spPr>
          <a:xfrm>
            <a:off x="1126212" y="3569256"/>
            <a:ext cx="4007763"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Implementation</a:t>
            </a:r>
            <a:endParaRPr lang="en-US" sz="1900" dirty="0"/>
          </a:p>
        </p:txBody>
      </p:sp>
      <p:sp>
        <p:nvSpPr>
          <p:cNvPr id="7" name="Text 5">
            <a:extLst>
              <a:ext uri="{FF2B5EF4-FFF2-40B4-BE49-F238E27FC236}">
                <a16:creationId xmlns:a16="http://schemas.microsoft.com/office/drawing/2014/main" id="{C2C84D03-DDA3-77EE-52E1-D11C5BA78A86}"/>
              </a:ext>
            </a:extLst>
          </p:cNvPr>
          <p:cNvSpPr/>
          <p:nvPr/>
        </p:nvSpPr>
        <p:spPr>
          <a:xfrm>
            <a:off x="5635228" y="3569256"/>
            <a:ext cx="207311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Execution Time</a:t>
            </a:r>
            <a:endParaRPr lang="en-US" sz="1900" dirty="0"/>
          </a:p>
        </p:txBody>
      </p:sp>
      <p:sp>
        <p:nvSpPr>
          <p:cNvPr id="8" name="Text 6">
            <a:extLst>
              <a:ext uri="{FF2B5EF4-FFF2-40B4-BE49-F238E27FC236}">
                <a16:creationId xmlns:a16="http://schemas.microsoft.com/office/drawing/2014/main" id="{0D7D5787-2BCB-70FC-1DA6-D07A8C361195}"/>
              </a:ext>
            </a:extLst>
          </p:cNvPr>
          <p:cNvSpPr/>
          <p:nvPr/>
        </p:nvSpPr>
        <p:spPr>
          <a:xfrm>
            <a:off x="8209598" y="3569256"/>
            <a:ext cx="207311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Speedup</a:t>
            </a:r>
            <a:endParaRPr lang="en-US" sz="1900" dirty="0"/>
          </a:p>
        </p:txBody>
      </p:sp>
      <p:sp>
        <p:nvSpPr>
          <p:cNvPr id="9" name="Text 7">
            <a:extLst>
              <a:ext uri="{FF2B5EF4-FFF2-40B4-BE49-F238E27FC236}">
                <a16:creationId xmlns:a16="http://schemas.microsoft.com/office/drawing/2014/main" id="{58B40468-A04C-5E4D-E391-E03F96BD43E6}"/>
              </a:ext>
            </a:extLst>
          </p:cNvPr>
          <p:cNvSpPr/>
          <p:nvPr/>
        </p:nvSpPr>
        <p:spPr>
          <a:xfrm>
            <a:off x="10783967" y="3569256"/>
            <a:ext cx="2720578"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Efficiency</a:t>
            </a:r>
            <a:endParaRPr lang="en-US" sz="1900" dirty="0"/>
          </a:p>
        </p:txBody>
      </p:sp>
      <p:sp>
        <p:nvSpPr>
          <p:cNvPr id="10" name="Shape 8">
            <a:extLst>
              <a:ext uri="{FF2B5EF4-FFF2-40B4-BE49-F238E27FC236}">
                <a16:creationId xmlns:a16="http://schemas.microsoft.com/office/drawing/2014/main" id="{1DB04804-0F14-C834-0C43-C039D660E77E}"/>
              </a:ext>
            </a:extLst>
          </p:cNvPr>
          <p:cNvSpPr/>
          <p:nvPr/>
        </p:nvSpPr>
        <p:spPr>
          <a:xfrm>
            <a:off x="879038" y="4119682"/>
            <a:ext cx="12872323" cy="706041"/>
          </a:xfrm>
          <a:prstGeom prst="rect">
            <a:avLst/>
          </a:prstGeom>
          <a:solidFill>
            <a:srgbClr val="000000">
              <a:alpha val="4000"/>
            </a:srgbClr>
          </a:solidFill>
          <a:ln/>
        </p:spPr>
      </p:sp>
      <p:sp>
        <p:nvSpPr>
          <p:cNvPr id="11" name="Text 9">
            <a:extLst>
              <a:ext uri="{FF2B5EF4-FFF2-40B4-BE49-F238E27FC236}">
                <a16:creationId xmlns:a16="http://schemas.microsoft.com/office/drawing/2014/main" id="{2D861001-1AD1-CD73-298F-9EE738E60997}"/>
              </a:ext>
            </a:extLst>
          </p:cNvPr>
          <p:cNvSpPr/>
          <p:nvPr/>
        </p:nvSpPr>
        <p:spPr>
          <a:xfrm>
            <a:off x="1126212" y="4275296"/>
            <a:ext cx="400776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Serial Baseline</a:t>
            </a:r>
            <a:endParaRPr lang="en-US" sz="1900" dirty="0"/>
          </a:p>
        </p:txBody>
      </p:sp>
      <p:sp>
        <p:nvSpPr>
          <p:cNvPr id="12" name="Text 10">
            <a:extLst>
              <a:ext uri="{FF2B5EF4-FFF2-40B4-BE49-F238E27FC236}">
                <a16:creationId xmlns:a16="http://schemas.microsoft.com/office/drawing/2014/main" id="{DE4DB56C-7D92-303A-D202-DC766DA4688E}"/>
              </a:ext>
            </a:extLst>
          </p:cNvPr>
          <p:cNvSpPr/>
          <p:nvPr/>
        </p:nvSpPr>
        <p:spPr>
          <a:xfrm>
            <a:off x="5635228" y="4275296"/>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High (reference)</a:t>
            </a:r>
            <a:endParaRPr lang="en-US" sz="1900" dirty="0"/>
          </a:p>
        </p:txBody>
      </p:sp>
      <p:sp>
        <p:nvSpPr>
          <p:cNvPr id="13" name="Text 11">
            <a:extLst>
              <a:ext uri="{FF2B5EF4-FFF2-40B4-BE49-F238E27FC236}">
                <a16:creationId xmlns:a16="http://schemas.microsoft.com/office/drawing/2014/main" id="{A500507B-EAF0-9F49-3C81-5FCC2261559E}"/>
              </a:ext>
            </a:extLst>
          </p:cNvPr>
          <p:cNvSpPr/>
          <p:nvPr/>
        </p:nvSpPr>
        <p:spPr>
          <a:xfrm>
            <a:off x="8209598" y="4275296"/>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1.0×</a:t>
            </a:r>
            <a:endParaRPr lang="en-US" sz="1900" dirty="0"/>
          </a:p>
        </p:txBody>
      </p:sp>
      <p:sp>
        <p:nvSpPr>
          <p:cNvPr id="14" name="Text 12">
            <a:extLst>
              <a:ext uri="{FF2B5EF4-FFF2-40B4-BE49-F238E27FC236}">
                <a16:creationId xmlns:a16="http://schemas.microsoft.com/office/drawing/2014/main" id="{74788910-C2D8-4009-7EA8-5F588A3991E8}"/>
              </a:ext>
            </a:extLst>
          </p:cNvPr>
          <p:cNvSpPr/>
          <p:nvPr/>
        </p:nvSpPr>
        <p:spPr>
          <a:xfrm>
            <a:off x="10783967" y="4275296"/>
            <a:ext cx="2720578"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100%</a:t>
            </a:r>
            <a:endParaRPr lang="en-US" sz="1900" dirty="0"/>
          </a:p>
        </p:txBody>
      </p:sp>
      <p:sp>
        <p:nvSpPr>
          <p:cNvPr id="15" name="Shape 13">
            <a:extLst>
              <a:ext uri="{FF2B5EF4-FFF2-40B4-BE49-F238E27FC236}">
                <a16:creationId xmlns:a16="http://schemas.microsoft.com/office/drawing/2014/main" id="{3ECAB807-B4DC-C11C-68A2-5A43EAB76264}"/>
              </a:ext>
            </a:extLst>
          </p:cNvPr>
          <p:cNvSpPr/>
          <p:nvPr/>
        </p:nvSpPr>
        <p:spPr>
          <a:xfrm>
            <a:off x="879038" y="4825722"/>
            <a:ext cx="12872323" cy="706041"/>
          </a:xfrm>
          <a:prstGeom prst="rect">
            <a:avLst/>
          </a:prstGeom>
          <a:solidFill>
            <a:srgbClr val="FFFFFF">
              <a:alpha val="4000"/>
            </a:srgbClr>
          </a:solidFill>
          <a:ln/>
        </p:spPr>
      </p:sp>
      <p:sp>
        <p:nvSpPr>
          <p:cNvPr id="16" name="Text 14">
            <a:extLst>
              <a:ext uri="{FF2B5EF4-FFF2-40B4-BE49-F238E27FC236}">
                <a16:creationId xmlns:a16="http://schemas.microsoft.com/office/drawing/2014/main" id="{1FE48A92-FAAB-04F5-9FE3-6C8C303C640B}"/>
              </a:ext>
            </a:extLst>
          </p:cNvPr>
          <p:cNvSpPr/>
          <p:nvPr/>
        </p:nvSpPr>
        <p:spPr>
          <a:xfrm>
            <a:off x="1126212" y="4981337"/>
            <a:ext cx="400776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 (8 threads)</a:t>
            </a:r>
            <a:endParaRPr lang="en-US" sz="1900" dirty="0"/>
          </a:p>
        </p:txBody>
      </p:sp>
      <p:sp>
        <p:nvSpPr>
          <p:cNvPr id="17" name="Text 15">
            <a:extLst>
              <a:ext uri="{FF2B5EF4-FFF2-40B4-BE49-F238E27FC236}">
                <a16:creationId xmlns:a16="http://schemas.microsoft.com/office/drawing/2014/main" id="{E12DA85B-141C-974E-09F8-FE8BA4B20C6B}"/>
              </a:ext>
            </a:extLst>
          </p:cNvPr>
          <p:cNvSpPr/>
          <p:nvPr/>
        </p:nvSpPr>
        <p:spPr>
          <a:xfrm>
            <a:off x="5635228" y="4981337"/>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Reduced</a:t>
            </a:r>
            <a:endParaRPr lang="en-US" sz="1900" dirty="0"/>
          </a:p>
        </p:txBody>
      </p:sp>
      <p:sp>
        <p:nvSpPr>
          <p:cNvPr id="18" name="Text 16">
            <a:extLst>
              <a:ext uri="{FF2B5EF4-FFF2-40B4-BE49-F238E27FC236}">
                <a16:creationId xmlns:a16="http://schemas.microsoft.com/office/drawing/2014/main" id="{EBC11A91-49A1-139B-6355-25C7A1EFAE25}"/>
              </a:ext>
            </a:extLst>
          </p:cNvPr>
          <p:cNvSpPr/>
          <p:nvPr/>
        </p:nvSpPr>
        <p:spPr>
          <a:xfrm>
            <a:off x="8209598" y="4981337"/>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1.5–2.0×</a:t>
            </a:r>
            <a:endParaRPr lang="en-US" sz="1900" dirty="0"/>
          </a:p>
        </p:txBody>
      </p:sp>
      <p:sp>
        <p:nvSpPr>
          <p:cNvPr id="19" name="Text 17">
            <a:extLst>
              <a:ext uri="{FF2B5EF4-FFF2-40B4-BE49-F238E27FC236}">
                <a16:creationId xmlns:a16="http://schemas.microsoft.com/office/drawing/2014/main" id="{4DFDCF81-8A2A-0E83-CECE-53D9E4CA6A73}"/>
              </a:ext>
            </a:extLst>
          </p:cNvPr>
          <p:cNvSpPr/>
          <p:nvPr/>
        </p:nvSpPr>
        <p:spPr>
          <a:xfrm>
            <a:off x="10783967" y="4981337"/>
            <a:ext cx="2720578"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80–95%</a:t>
            </a:r>
            <a:endParaRPr lang="en-US" sz="1900" dirty="0"/>
          </a:p>
        </p:txBody>
      </p:sp>
      <p:sp>
        <p:nvSpPr>
          <p:cNvPr id="20" name="Text 18">
            <a:extLst>
              <a:ext uri="{FF2B5EF4-FFF2-40B4-BE49-F238E27FC236}">
                <a16:creationId xmlns:a16="http://schemas.microsoft.com/office/drawing/2014/main" id="{95EB88E5-4FB9-42D6-271E-2F2456A61503}"/>
              </a:ext>
            </a:extLst>
          </p:cNvPr>
          <p:cNvSpPr/>
          <p:nvPr/>
        </p:nvSpPr>
        <p:spPr>
          <a:xfrm>
            <a:off x="863798" y="5824657"/>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parallel version achieves sub-linear scaling due to thread management overhead and synchronization costs, which are acceptable trade-offs for practical multi-core systems.</a:t>
            </a:r>
            <a:endParaRPr lang="en-US" sz="1900" dirty="0"/>
          </a:p>
        </p:txBody>
      </p:sp>
    </p:spTree>
    <p:extLst>
      <p:ext uri="{BB962C8B-B14F-4D97-AF65-F5344CB8AC3E}">
        <p14:creationId xmlns:p14="http://schemas.microsoft.com/office/powerpoint/2010/main" val="3370867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5FA8235-59D3-0EE3-FFEA-06030A64D471}"/>
              </a:ext>
            </a:extLst>
          </p:cNvPr>
          <p:cNvSpPr/>
          <p:nvPr/>
        </p:nvSpPr>
        <p:spPr>
          <a:xfrm>
            <a:off x="578882" y="454819"/>
            <a:ext cx="5886212" cy="413504"/>
          </a:xfrm>
          <a:prstGeom prst="rect">
            <a:avLst/>
          </a:prstGeom>
          <a:noFill/>
          <a:ln/>
        </p:spPr>
        <p:txBody>
          <a:bodyPr wrap="none" lIns="0" tIns="0" rIns="0" bIns="0" rtlCol="0" anchor="t"/>
          <a:lstStyle/>
          <a:p>
            <a:pPr marL="0" indent="0" algn="l">
              <a:lnSpc>
                <a:spcPts val="3250"/>
              </a:lnSpc>
              <a:buNone/>
            </a:pPr>
            <a:r>
              <a:rPr lang="en-US" sz="2600" dirty="0">
                <a:solidFill>
                  <a:srgbClr val="F5F0F0"/>
                </a:solidFill>
                <a:latin typeface="Merriweather" pitchFamily="34" charset="0"/>
                <a:ea typeface="Merriweather" pitchFamily="34" charset="-122"/>
                <a:cs typeface="Merriweather" pitchFamily="34" charset="-120"/>
              </a:rPr>
              <a:t>Scalability and Performance Analysis</a:t>
            </a:r>
            <a:endParaRPr lang="en-US" sz="2600" dirty="0"/>
          </a:p>
        </p:txBody>
      </p:sp>
      <p:sp>
        <p:nvSpPr>
          <p:cNvPr id="3" name="Text 1">
            <a:extLst>
              <a:ext uri="{FF2B5EF4-FFF2-40B4-BE49-F238E27FC236}">
                <a16:creationId xmlns:a16="http://schemas.microsoft.com/office/drawing/2014/main" id="{C6910DFB-5A48-8D51-C991-A1C11AAE609F}"/>
              </a:ext>
            </a:extLst>
          </p:cNvPr>
          <p:cNvSpPr/>
          <p:nvPr/>
        </p:nvSpPr>
        <p:spPr>
          <a:xfrm>
            <a:off x="578882" y="1199078"/>
            <a:ext cx="13472636" cy="264557"/>
          </a:xfrm>
          <a:prstGeom prst="rect">
            <a:avLst/>
          </a:prstGeom>
          <a:noFill/>
          <a:ln/>
        </p:spPr>
        <p:txBody>
          <a:bodyPr wrap="none" lIns="0" tIns="0" rIns="0" bIns="0" rtlCol="0" anchor="t"/>
          <a:lstStyle/>
          <a:p>
            <a:pPr marL="0" indent="0" algn="l">
              <a:lnSpc>
                <a:spcPts val="2050"/>
              </a:lnSpc>
              <a:buNone/>
            </a:pPr>
            <a:r>
              <a:rPr lang="en-US" sz="1300" dirty="0">
                <a:solidFill>
                  <a:srgbClr val="E2E6E9"/>
                </a:solidFill>
                <a:latin typeface="Merriweather" pitchFamily="34" charset="0"/>
                <a:ea typeface="Merriweather" pitchFamily="34" charset="-122"/>
                <a:cs typeface="Merriweather" pitchFamily="34" charset="-120"/>
              </a:rPr>
              <a:t>Execution time decreases with additional threads until saturation at physical core count. Beyond this point, context switching overhead outweighs parallelism benefits.</a:t>
            </a:r>
            <a:endParaRPr lang="en-US" sz="1300" dirty="0"/>
          </a:p>
        </p:txBody>
      </p:sp>
      <p:pic>
        <p:nvPicPr>
          <p:cNvPr id="4" name="Image 0" descr="preencoded.png">
            <a:extLst>
              <a:ext uri="{FF2B5EF4-FFF2-40B4-BE49-F238E27FC236}">
                <a16:creationId xmlns:a16="http://schemas.microsoft.com/office/drawing/2014/main" id="{E93F8AD8-20D5-CD57-F909-5A2073C3F7D8}"/>
              </a:ext>
            </a:extLst>
          </p:cNvPr>
          <p:cNvPicPr>
            <a:picLocks noChangeAspect="1"/>
          </p:cNvPicPr>
          <p:nvPr/>
        </p:nvPicPr>
        <p:blipFill>
          <a:blip r:embed="rId2"/>
          <a:stretch>
            <a:fillRect/>
          </a:stretch>
        </p:blipFill>
        <p:spPr>
          <a:xfrm>
            <a:off x="149904" y="1054299"/>
            <a:ext cx="13472636" cy="7048381"/>
          </a:xfrm>
          <a:prstGeom prst="rect">
            <a:avLst/>
          </a:prstGeom>
        </p:spPr>
      </p:pic>
      <p:sp>
        <p:nvSpPr>
          <p:cNvPr id="5" name="Shape 2">
            <a:extLst>
              <a:ext uri="{FF2B5EF4-FFF2-40B4-BE49-F238E27FC236}">
                <a16:creationId xmlns:a16="http://schemas.microsoft.com/office/drawing/2014/main" id="{3D6EFCB1-1CD3-510E-553D-3189B3D0FF69}"/>
              </a:ext>
            </a:extLst>
          </p:cNvPr>
          <p:cNvSpPr/>
          <p:nvPr/>
        </p:nvSpPr>
        <p:spPr>
          <a:xfrm>
            <a:off x="5363051" y="8697992"/>
            <a:ext cx="165378" cy="165378"/>
          </a:xfrm>
          <a:prstGeom prst="roundRect">
            <a:avLst>
              <a:gd name="adj" fmla="val 11058"/>
            </a:avLst>
          </a:prstGeom>
          <a:solidFill>
            <a:srgbClr val="0058E6"/>
          </a:solidFill>
          <a:ln/>
        </p:spPr>
      </p:sp>
      <p:sp>
        <p:nvSpPr>
          <p:cNvPr id="6" name="Text 3">
            <a:extLst>
              <a:ext uri="{FF2B5EF4-FFF2-40B4-BE49-F238E27FC236}">
                <a16:creationId xmlns:a16="http://schemas.microsoft.com/office/drawing/2014/main" id="{A54C3ACF-0A28-4E25-8DE5-9B10F5491F5C}"/>
              </a:ext>
            </a:extLst>
          </p:cNvPr>
          <p:cNvSpPr/>
          <p:nvPr/>
        </p:nvSpPr>
        <p:spPr>
          <a:xfrm>
            <a:off x="5589389" y="8697992"/>
            <a:ext cx="1649611" cy="165378"/>
          </a:xfrm>
          <a:prstGeom prst="rect">
            <a:avLst/>
          </a:prstGeom>
          <a:noFill/>
          <a:ln/>
        </p:spPr>
        <p:txBody>
          <a:bodyPr wrap="none" lIns="0" tIns="0" rIns="0" bIns="0" rtlCol="0" anchor="t"/>
          <a:lstStyle/>
          <a:p>
            <a:pPr marL="0" indent="0" algn="l">
              <a:lnSpc>
                <a:spcPts val="1300"/>
              </a:lnSpc>
              <a:buNone/>
            </a:pPr>
            <a:r>
              <a:rPr lang="en-US" sz="1300" dirty="0">
                <a:solidFill>
                  <a:srgbClr val="E2E6E9"/>
                </a:solidFill>
                <a:latin typeface="Merriweather" pitchFamily="34" charset="0"/>
                <a:ea typeface="Merriweather" pitchFamily="34" charset="-122"/>
                <a:cs typeface="Merriweather" pitchFamily="34" charset="-120"/>
              </a:rPr>
              <a:t>Execution Time (ms)</a:t>
            </a:r>
            <a:endParaRPr lang="en-US" sz="1300" dirty="0"/>
          </a:p>
        </p:txBody>
      </p:sp>
      <p:sp>
        <p:nvSpPr>
          <p:cNvPr id="7" name="Shape 4">
            <a:extLst>
              <a:ext uri="{FF2B5EF4-FFF2-40B4-BE49-F238E27FC236}">
                <a16:creationId xmlns:a16="http://schemas.microsoft.com/office/drawing/2014/main" id="{BC167C5F-B447-C837-E8AF-DC8A057B1BC4}"/>
              </a:ext>
            </a:extLst>
          </p:cNvPr>
          <p:cNvSpPr/>
          <p:nvPr/>
        </p:nvSpPr>
        <p:spPr>
          <a:xfrm>
            <a:off x="7391400" y="8697992"/>
            <a:ext cx="165378" cy="165378"/>
          </a:xfrm>
          <a:prstGeom prst="roundRect">
            <a:avLst>
              <a:gd name="adj" fmla="val 11058"/>
            </a:avLst>
          </a:prstGeom>
          <a:solidFill>
            <a:srgbClr val="66A1FF"/>
          </a:solidFill>
          <a:ln/>
        </p:spPr>
      </p:sp>
      <p:sp>
        <p:nvSpPr>
          <p:cNvPr id="8" name="Text 5">
            <a:extLst>
              <a:ext uri="{FF2B5EF4-FFF2-40B4-BE49-F238E27FC236}">
                <a16:creationId xmlns:a16="http://schemas.microsoft.com/office/drawing/2014/main" id="{C063B729-3CF0-2B5E-941C-98D4E71763CA}"/>
              </a:ext>
            </a:extLst>
          </p:cNvPr>
          <p:cNvSpPr/>
          <p:nvPr/>
        </p:nvSpPr>
        <p:spPr>
          <a:xfrm>
            <a:off x="7617738" y="8697992"/>
            <a:ext cx="1219914" cy="165378"/>
          </a:xfrm>
          <a:prstGeom prst="rect">
            <a:avLst/>
          </a:prstGeom>
          <a:noFill/>
          <a:ln/>
        </p:spPr>
        <p:txBody>
          <a:bodyPr wrap="none" lIns="0" tIns="0" rIns="0" bIns="0" rtlCol="0" anchor="t"/>
          <a:lstStyle/>
          <a:p>
            <a:pPr marL="0" indent="0" algn="l">
              <a:lnSpc>
                <a:spcPts val="1300"/>
              </a:lnSpc>
              <a:buNone/>
            </a:pPr>
            <a:r>
              <a:rPr lang="en-US" sz="1300" dirty="0">
                <a:solidFill>
                  <a:srgbClr val="E2E6E9"/>
                </a:solidFill>
                <a:latin typeface="Merriweather" pitchFamily="34" charset="0"/>
                <a:ea typeface="Merriweather" pitchFamily="34" charset="-122"/>
                <a:cs typeface="Merriweather" pitchFamily="34" charset="-120"/>
              </a:rPr>
              <a:t>Speedup Factor</a:t>
            </a:r>
            <a:endParaRPr lang="en-US" sz="1300" dirty="0"/>
          </a:p>
        </p:txBody>
      </p:sp>
    </p:spTree>
    <p:extLst>
      <p:ext uri="{BB962C8B-B14F-4D97-AF65-F5344CB8AC3E}">
        <p14:creationId xmlns:p14="http://schemas.microsoft.com/office/powerpoint/2010/main" val="1842244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0FE4577-F671-6254-F5C3-32A53A6DAFD3}"/>
              </a:ext>
            </a:extLst>
          </p:cNvPr>
          <p:cNvSpPr/>
          <p:nvPr/>
        </p:nvSpPr>
        <p:spPr>
          <a:xfrm>
            <a:off x="863798" y="976313"/>
            <a:ext cx="4936569"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Key Observations</a:t>
            </a:r>
            <a:endParaRPr lang="en-US" sz="3850" dirty="0"/>
          </a:p>
        </p:txBody>
      </p:sp>
      <p:sp>
        <p:nvSpPr>
          <p:cNvPr id="3" name="Text 1">
            <a:extLst>
              <a:ext uri="{FF2B5EF4-FFF2-40B4-BE49-F238E27FC236}">
                <a16:creationId xmlns:a16="http://schemas.microsoft.com/office/drawing/2014/main" id="{B1EB0156-7467-9A05-B0AA-EA8530D9AF45}"/>
              </a:ext>
            </a:extLst>
          </p:cNvPr>
          <p:cNvSpPr/>
          <p:nvPr/>
        </p:nvSpPr>
        <p:spPr>
          <a:xfrm>
            <a:off x="863798" y="2086928"/>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Analysis across diverse datasets reveals consistent patterns in parallel scaling behavior:</a:t>
            </a:r>
            <a:endParaRPr lang="en-US" sz="1900" dirty="0"/>
          </a:p>
        </p:txBody>
      </p:sp>
      <p:sp>
        <p:nvSpPr>
          <p:cNvPr id="4" name="Shape 2">
            <a:extLst>
              <a:ext uri="{FF2B5EF4-FFF2-40B4-BE49-F238E27FC236}">
                <a16:creationId xmlns:a16="http://schemas.microsoft.com/office/drawing/2014/main" id="{531B004C-2511-D1ED-0124-B1069064B637}"/>
              </a:ext>
            </a:extLst>
          </p:cNvPr>
          <p:cNvSpPr/>
          <p:nvPr/>
        </p:nvSpPr>
        <p:spPr>
          <a:xfrm>
            <a:off x="863798" y="2759393"/>
            <a:ext cx="555308" cy="555308"/>
          </a:xfrm>
          <a:prstGeom prst="roundRect">
            <a:avLst>
              <a:gd name="adj" fmla="val 18669"/>
            </a:avLst>
          </a:prstGeom>
          <a:solidFill>
            <a:srgbClr val="003180"/>
          </a:solidFill>
          <a:ln w="15240">
            <a:solidFill>
              <a:srgbClr val="194A99"/>
            </a:solidFill>
            <a:prstDash val="solid"/>
          </a:ln>
        </p:spPr>
      </p:sp>
      <p:sp>
        <p:nvSpPr>
          <p:cNvPr id="5" name="Text 3">
            <a:extLst>
              <a:ext uri="{FF2B5EF4-FFF2-40B4-BE49-F238E27FC236}">
                <a16:creationId xmlns:a16="http://schemas.microsoft.com/office/drawing/2014/main" id="{8A680BFC-4411-7F6B-21D2-5756F6613471}"/>
              </a:ext>
            </a:extLst>
          </p:cNvPr>
          <p:cNvSpPr/>
          <p:nvPr/>
        </p:nvSpPr>
        <p:spPr>
          <a:xfrm>
            <a:off x="1665923" y="284416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Small Datasets</a:t>
            </a:r>
            <a:endParaRPr lang="en-US" sz="2400" dirty="0"/>
          </a:p>
        </p:txBody>
      </p:sp>
      <p:sp>
        <p:nvSpPr>
          <p:cNvPr id="6" name="Text 4">
            <a:extLst>
              <a:ext uri="{FF2B5EF4-FFF2-40B4-BE49-F238E27FC236}">
                <a16:creationId xmlns:a16="http://schemas.microsoft.com/office/drawing/2014/main" id="{BB20418C-B9D6-4432-3E9E-A01422DE0ECB}"/>
              </a:ext>
            </a:extLst>
          </p:cNvPr>
          <p:cNvSpPr/>
          <p:nvPr/>
        </p:nvSpPr>
        <p:spPr>
          <a:xfrm>
            <a:off x="1665923" y="3377684"/>
            <a:ext cx="549497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Yield minimal performance improvement; thread startup overhead dominates computation time, making parallelization inefficient.</a:t>
            </a:r>
            <a:endParaRPr lang="en-US" sz="1900" dirty="0"/>
          </a:p>
        </p:txBody>
      </p:sp>
      <p:sp>
        <p:nvSpPr>
          <p:cNvPr id="7" name="Shape 5">
            <a:extLst>
              <a:ext uri="{FF2B5EF4-FFF2-40B4-BE49-F238E27FC236}">
                <a16:creationId xmlns:a16="http://schemas.microsoft.com/office/drawing/2014/main" id="{41FD2492-DEEC-8025-B957-5D478EE81A35}"/>
              </a:ext>
            </a:extLst>
          </p:cNvPr>
          <p:cNvSpPr/>
          <p:nvPr/>
        </p:nvSpPr>
        <p:spPr>
          <a:xfrm>
            <a:off x="7469386" y="2759393"/>
            <a:ext cx="555308" cy="555308"/>
          </a:xfrm>
          <a:prstGeom prst="roundRect">
            <a:avLst>
              <a:gd name="adj" fmla="val 18669"/>
            </a:avLst>
          </a:prstGeom>
          <a:solidFill>
            <a:srgbClr val="003180"/>
          </a:solidFill>
          <a:ln w="15240">
            <a:solidFill>
              <a:srgbClr val="194A99"/>
            </a:solidFill>
            <a:prstDash val="solid"/>
          </a:ln>
        </p:spPr>
      </p:sp>
      <p:sp>
        <p:nvSpPr>
          <p:cNvPr id="8" name="Text 6">
            <a:extLst>
              <a:ext uri="{FF2B5EF4-FFF2-40B4-BE49-F238E27FC236}">
                <a16:creationId xmlns:a16="http://schemas.microsoft.com/office/drawing/2014/main" id="{956A828F-F79A-3081-52B6-28F12DAD629E}"/>
              </a:ext>
            </a:extLst>
          </p:cNvPr>
          <p:cNvSpPr/>
          <p:nvPr/>
        </p:nvSpPr>
        <p:spPr>
          <a:xfrm>
            <a:off x="8271510" y="284416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Large Datasets</a:t>
            </a:r>
            <a:endParaRPr lang="en-US" sz="2400" dirty="0"/>
          </a:p>
        </p:txBody>
      </p:sp>
      <p:sp>
        <p:nvSpPr>
          <p:cNvPr id="9" name="Text 7">
            <a:extLst>
              <a:ext uri="{FF2B5EF4-FFF2-40B4-BE49-F238E27FC236}">
                <a16:creationId xmlns:a16="http://schemas.microsoft.com/office/drawing/2014/main" id="{138CCDF6-1ACC-6EBB-798C-478387EEA5DE}"/>
              </a:ext>
            </a:extLst>
          </p:cNvPr>
          <p:cNvSpPr/>
          <p:nvPr/>
        </p:nvSpPr>
        <p:spPr>
          <a:xfrm>
            <a:off x="8271510" y="3377684"/>
            <a:ext cx="5495092"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Demonstrate superior scalability; increased computational workload per tree justifies thread management costs, approaching theoretical speedup limits.</a:t>
            </a:r>
            <a:endParaRPr lang="en-US" sz="1900" dirty="0"/>
          </a:p>
        </p:txBody>
      </p:sp>
      <p:sp>
        <p:nvSpPr>
          <p:cNvPr id="10" name="Shape 8">
            <a:extLst>
              <a:ext uri="{FF2B5EF4-FFF2-40B4-BE49-F238E27FC236}">
                <a16:creationId xmlns:a16="http://schemas.microsoft.com/office/drawing/2014/main" id="{75FEC1CE-4230-EC05-9AA7-83414F98E275}"/>
              </a:ext>
            </a:extLst>
          </p:cNvPr>
          <p:cNvSpPr/>
          <p:nvPr/>
        </p:nvSpPr>
        <p:spPr>
          <a:xfrm>
            <a:off x="863798" y="5450562"/>
            <a:ext cx="555308" cy="555308"/>
          </a:xfrm>
          <a:prstGeom prst="roundRect">
            <a:avLst>
              <a:gd name="adj" fmla="val 18669"/>
            </a:avLst>
          </a:prstGeom>
          <a:solidFill>
            <a:srgbClr val="003180"/>
          </a:solidFill>
          <a:ln w="15240">
            <a:solidFill>
              <a:srgbClr val="194A99"/>
            </a:solidFill>
            <a:prstDash val="solid"/>
          </a:ln>
        </p:spPr>
      </p:sp>
      <p:sp>
        <p:nvSpPr>
          <p:cNvPr id="11" name="Text 9">
            <a:extLst>
              <a:ext uri="{FF2B5EF4-FFF2-40B4-BE49-F238E27FC236}">
                <a16:creationId xmlns:a16="http://schemas.microsoft.com/office/drawing/2014/main" id="{22C17030-CCB8-2B45-168F-7C1162715492}"/>
              </a:ext>
            </a:extLst>
          </p:cNvPr>
          <p:cNvSpPr/>
          <p:nvPr/>
        </p:nvSpPr>
        <p:spPr>
          <a:xfrm>
            <a:off x="1665923" y="553533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Thread Overhead</a:t>
            </a:r>
            <a:endParaRPr lang="en-US" sz="2400" dirty="0"/>
          </a:p>
        </p:txBody>
      </p:sp>
      <p:sp>
        <p:nvSpPr>
          <p:cNvPr id="12" name="Text 10">
            <a:extLst>
              <a:ext uri="{FF2B5EF4-FFF2-40B4-BE49-F238E27FC236}">
                <a16:creationId xmlns:a16="http://schemas.microsoft.com/office/drawing/2014/main" id="{3888E84C-C595-B51B-19F1-131B91676932}"/>
              </a:ext>
            </a:extLst>
          </p:cNvPr>
          <p:cNvSpPr/>
          <p:nvPr/>
        </p:nvSpPr>
        <p:spPr>
          <a:xfrm>
            <a:off x="1665923" y="6068854"/>
            <a:ext cx="549497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Remains small relative to total training time, validating OpenMP's lightweight design and effectiveness for coarse-grained parallelism.</a:t>
            </a:r>
            <a:endParaRPr lang="en-US" sz="1900" dirty="0"/>
          </a:p>
        </p:txBody>
      </p:sp>
      <p:sp>
        <p:nvSpPr>
          <p:cNvPr id="13" name="Shape 11">
            <a:extLst>
              <a:ext uri="{FF2B5EF4-FFF2-40B4-BE49-F238E27FC236}">
                <a16:creationId xmlns:a16="http://schemas.microsoft.com/office/drawing/2014/main" id="{BF5AEF35-850E-DF44-0F11-5F68EB73B628}"/>
              </a:ext>
            </a:extLst>
          </p:cNvPr>
          <p:cNvSpPr/>
          <p:nvPr/>
        </p:nvSpPr>
        <p:spPr>
          <a:xfrm>
            <a:off x="7469386" y="5450562"/>
            <a:ext cx="555308" cy="555308"/>
          </a:xfrm>
          <a:prstGeom prst="roundRect">
            <a:avLst>
              <a:gd name="adj" fmla="val 18669"/>
            </a:avLst>
          </a:prstGeom>
          <a:solidFill>
            <a:srgbClr val="003180"/>
          </a:solidFill>
          <a:ln w="15240">
            <a:solidFill>
              <a:srgbClr val="194A99"/>
            </a:solidFill>
            <a:prstDash val="solid"/>
          </a:ln>
        </p:spPr>
      </p:sp>
      <p:sp>
        <p:nvSpPr>
          <p:cNvPr id="14" name="Text 12">
            <a:extLst>
              <a:ext uri="{FF2B5EF4-FFF2-40B4-BE49-F238E27FC236}">
                <a16:creationId xmlns:a16="http://schemas.microsoft.com/office/drawing/2014/main" id="{D5666BEA-087C-72F3-C7DB-A60FA45855F2}"/>
              </a:ext>
            </a:extLst>
          </p:cNvPr>
          <p:cNvSpPr/>
          <p:nvPr/>
        </p:nvSpPr>
        <p:spPr>
          <a:xfrm>
            <a:off x="8271510" y="553533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CPU Utilization</a:t>
            </a:r>
            <a:endParaRPr lang="en-US" sz="2400" dirty="0"/>
          </a:p>
        </p:txBody>
      </p:sp>
      <p:sp>
        <p:nvSpPr>
          <p:cNvPr id="15" name="Text 13">
            <a:extLst>
              <a:ext uri="{FF2B5EF4-FFF2-40B4-BE49-F238E27FC236}">
                <a16:creationId xmlns:a16="http://schemas.microsoft.com/office/drawing/2014/main" id="{1A4270FD-152F-EBE1-5750-BE0A7B34F661}"/>
              </a:ext>
            </a:extLst>
          </p:cNvPr>
          <p:cNvSpPr/>
          <p:nvPr/>
        </p:nvSpPr>
        <p:spPr>
          <a:xfrm>
            <a:off x="8271510" y="6068854"/>
            <a:ext cx="5495092"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Excellent scaling efficiency with consistent core utilization across threads, indicating minimal contention or load imbalance.</a:t>
            </a:r>
            <a:endParaRPr lang="en-US" sz="1900" dirty="0"/>
          </a:p>
        </p:txBody>
      </p:sp>
    </p:spTree>
    <p:extLst>
      <p:ext uri="{BB962C8B-B14F-4D97-AF65-F5344CB8AC3E}">
        <p14:creationId xmlns:p14="http://schemas.microsoft.com/office/powerpoint/2010/main" val="2440372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813A0F8-D283-9AE2-D473-DC0F7B2EC564}"/>
              </a:ext>
            </a:extLst>
          </p:cNvPr>
          <p:cNvSpPr/>
          <p:nvPr/>
        </p:nvSpPr>
        <p:spPr>
          <a:xfrm>
            <a:off x="705326" y="555308"/>
            <a:ext cx="6461046" cy="503873"/>
          </a:xfrm>
          <a:prstGeom prst="rect">
            <a:avLst/>
          </a:prstGeom>
          <a:noFill/>
          <a:ln/>
        </p:spPr>
        <p:txBody>
          <a:bodyPr wrap="none" lIns="0" tIns="0" rIns="0" bIns="0" rtlCol="0" anchor="t"/>
          <a:lstStyle/>
          <a:p>
            <a:pPr marL="0" indent="0" algn="l">
              <a:lnSpc>
                <a:spcPts val="3950"/>
              </a:lnSpc>
              <a:buNone/>
            </a:pPr>
            <a:r>
              <a:rPr lang="en-US" sz="3150" dirty="0">
                <a:solidFill>
                  <a:srgbClr val="F5F0F0"/>
                </a:solidFill>
                <a:latin typeface="Merriweather" pitchFamily="34" charset="0"/>
                <a:ea typeface="Merriweather" pitchFamily="34" charset="-122"/>
                <a:cs typeface="Merriweather" pitchFamily="34" charset="-120"/>
              </a:rPr>
              <a:t>Conclusion and Future Directions</a:t>
            </a:r>
            <a:endParaRPr lang="en-US" sz="3150" dirty="0"/>
          </a:p>
        </p:txBody>
      </p:sp>
      <p:sp>
        <p:nvSpPr>
          <p:cNvPr id="3" name="Text 1">
            <a:extLst>
              <a:ext uri="{FF2B5EF4-FFF2-40B4-BE49-F238E27FC236}">
                <a16:creationId xmlns:a16="http://schemas.microsoft.com/office/drawing/2014/main" id="{243AFCD4-CFD9-F222-178E-5116C5F73F90}"/>
              </a:ext>
            </a:extLst>
          </p:cNvPr>
          <p:cNvSpPr/>
          <p:nvPr/>
        </p:nvSpPr>
        <p:spPr>
          <a:xfrm>
            <a:off x="705326" y="1361480"/>
            <a:ext cx="13219748" cy="644843"/>
          </a:xfrm>
          <a:prstGeom prst="rect">
            <a:avLst/>
          </a:prstGeom>
          <a:noFill/>
          <a:ln/>
        </p:spPr>
        <p:txBody>
          <a:bodyPr wrap="square" lIns="0" tIns="0" rIns="0" bIns="0" rtlCol="0" anchor="t"/>
          <a:lstStyle/>
          <a:p>
            <a:pPr marL="0" indent="0" algn="l">
              <a:lnSpc>
                <a:spcPts val="2500"/>
              </a:lnSpc>
              <a:buNone/>
            </a:pPr>
            <a:r>
              <a:rPr lang="en-US" sz="1550" b="1" dirty="0">
                <a:solidFill>
                  <a:srgbClr val="E2E6E9"/>
                </a:solidFill>
                <a:latin typeface="Merriweather" pitchFamily="34" charset="0"/>
                <a:ea typeface="Merriweather" pitchFamily="34" charset="-122"/>
                <a:cs typeface="Merriweather" pitchFamily="34" charset="-120"/>
              </a:rPr>
              <a:t>OpenMP parallelization significantly accelerates random forest training while preserving model accuracy and computational behavior.</a:t>
            </a:r>
            <a:r>
              <a:rPr lang="en-US" sz="1550" dirty="0">
                <a:solidFill>
                  <a:srgbClr val="E2E6E9"/>
                </a:solidFill>
                <a:latin typeface="Merriweather" pitchFamily="34" charset="0"/>
                <a:ea typeface="Merriweather" pitchFamily="34" charset="-122"/>
                <a:cs typeface="Merriweather" pitchFamily="34" charset="-120"/>
              </a:rPr>
              <a:t> This approach efficiently leverages modern multi-core processors with minimal code modifications.</a:t>
            </a:r>
            <a:endParaRPr lang="en-US" sz="1550" dirty="0"/>
          </a:p>
        </p:txBody>
      </p:sp>
      <p:pic>
        <p:nvPicPr>
          <p:cNvPr id="4" name="Image 0" descr="preencoded.png">
            <a:extLst>
              <a:ext uri="{FF2B5EF4-FFF2-40B4-BE49-F238E27FC236}">
                <a16:creationId xmlns:a16="http://schemas.microsoft.com/office/drawing/2014/main" id="{624F452B-7A4F-EE08-8DE4-03C4E6F68D9A}"/>
              </a:ext>
            </a:extLst>
          </p:cNvPr>
          <p:cNvPicPr>
            <a:picLocks noChangeAspect="1"/>
          </p:cNvPicPr>
          <p:nvPr/>
        </p:nvPicPr>
        <p:blipFill>
          <a:blip r:embed="rId2"/>
          <a:stretch>
            <a:fillRect/>
          </a:stretch>
        </p:blipFill>
        <p:spPr>
          <a:xfrm>
            <a:off x="705326" y="2233017"/>
            <a:ext cx="604599" cy="1143000"/>
          </a:xfrm>
          <a:prstGeom prst="rect">
            <a:avLst/>
          </a:prstGeom>
        </p:spPr>
      </p:pic>
      <p:sp>
        <p:nvSpPr>
          <p:cNvPr id="5" name="Text 2">
            <a:extLst>
              <a:ext uri="{FF2B5EF4-FFF2-40B4-BE49-F238E27FC236}">
                <a16:creationId xmlns:a16="http://schemas.microsoft.com/office/drawing/2014/main" id="{3111872F-346B-CFCA-D0F4-381177C06E98}"/>
              </a:ext>
            </a:extLst>
          </p:cNvPr>
          <p:cNvSpPr/>
          <p:nvPr/>
        </p:nvSpPr>
        <p:spPr>
          <a:xfrm>
            <a:off x="1511379" y="2434471"/>
            <a:ext cx="2571869"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Present Achievement</a:t>
            </a:r>
            <a:endParaRPr lang="en-US" sz="1950" dirty="0"/>
          </a:p>
        </p:txBody>
      </p:sp>
      <p:sp>
        <p:nvSpPr>
          <p:cNvPr id="6" name="Text 3">
            <a:extLst>
              <a:ext uri="{FF2B5EF4-FFF2-40B4-BE49-F238E27FC236}">
                <a16:creationId xmlns:a16="http://schemas.microsoft.com/office/drawing/2014/main" id="{A5732ED2-C21C-7B12-FCC6-400FEC3EF772}"/>
              </a:ext>
            </a:extLst>
          </p:cNvPr>
          <p:cNvSpPr/>
          <p:nvPr/>
        </p:nvSpPr>
        <p:spPr>
          <a:xfrm>
            <a:off x="1511379" y="2870240"/>
            <a:ext cx="12413694"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Effective multi-threaded training with maintained accuracy on shared-memory systems.</a:t>
            </a:r>
            <a:endParaRPr lang="en-US" sz="1550" dirty="0"/>
          </a:p>
        </p:txBody>
      </p:sp>
      <p:pic>
        <p:nvPicPr>
          <p:cNvPr id="7" name="Image 1" descr="preencoded.png">
            <a:extLst>
              <a:ext uri="{FF2B5EF4-FFF2-40B4-BE49-F238E27FC236}">
                <a16:creationId xmlns:a16="http://schemas.microsoft.com/office/drawing/2014/main" id="{DC1F86C5-9DFA-6914-2411-1E1D4AD3B54D}"/>
              </a:ext>
            </a:extLst>
          </p:cNvPr>
          <p:cNvPicPr>
            <a:picLocks noChangeAspect="1"/>
          </p:cNvPicPr>
          <p:nvPr/>
        </p:nvPicPr>
        <p:blipFill>
          <a:blip r:embed="rId2"/>
          <a:stretch>
            <a:fillRect/>
          </a:stretch>
        </p:blipFill>
        <p:spPr>
          <a:xfrm>
            <a:off x="1007626" y="3643670"/>
            <a:ext cx="604599" cy="1143000"/>
          </a:xfrm>
          <a:prstGeom prst="rect">
            <a:avLst/>
          </a:prstGeom>
        </p:spPr>
      </p:pic>
      <p:sp>
        <p:nvSpPr>
          <p:cNvPr id="8" name="Text 4">
            <a:extLst>
              <a:ext uri="{FF2B5EF4-FFF2-40B4-BE49-F238E27FC236}">
                <a16:creationId xmlns:a16="http://schemas.microsoft.com/office/drawing/2014/main" id="{C0B59AFC-5E3C-31E2-BEB1-94CA98BD3BC0}"/>
              </a:ext>
            </a:extLst>
          </p:cNvPr>
          <p:cNvSpPr/>
          <p:nvPr/>
        </p:nvSpPr>
        <p:spPr>
          <a:xfrm>
            <a:off x="1813679" y="3845123"/>
            <a:ext cx="2519243"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Distributed Systems</a:t>
            </a:r>
            <a:endParaRPr lang="en-US" sz="1950" dirty="0"/>
          </a:p>
        </p:txBody>
      </p:sp>
      <p:sp>
        <p:nvSpPr>
          <p:cNvPr id="9" name="Text 5">
            <a:extLst>
              <a:ext uri="{FF2B5EF4-FFF2-40B4-BE49-F238E27FC236}">
                <a16:creationId xmlns:a16="http://schemas.microsoft.com/office/drawing/2014/main" id="{B7C294CF-BC69-E317-0B05-A0E99A1D22DC}"/>
              </a:ext>
            </a:extLst>
          </p:cNvPr>
          <p:cNvSpPr/>
          <p:nvPr/>
        </p:nvSpPr>
        <p:spPr>
          <a:xfrm>
            <a:off x="1813679" y="4280892"/>
            <a:ext cx="12111395"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Extend to MPI for cluster computing and large-scale distributed training environments.</a:t>
            </a:r>
            <a:endParaRPr lang="en-US" sz="1550" dirty="0"/>
          </a:p>
        </p:txBody>
      </p:sp>
      <p:pic>
        <p:nvPicPr>
          <p:cNvPr id="10" name="Image 2" descr="preencoded.png">
            <a:extLst>
              <a:ext uri="{FF2B5EF4-FFF2-40B4-BE49-F238E27FC236}">
                <a16:creationId xmlns:a16="http://schemas.microsoft.com/office/drawing/2014/main" id="{8E045C02-537A-A791-E00C-C7908A789B5D}"/>
              </a:ext>
            </a:extLst>
          </p:cNvPr>
          <p:cNvPicPr>
            <a:picLocks noChangeAspect="1"/>
          </p:cNvPicPr>
          <p:nvPr/>
        </p:nvPicPr>
        <p:blipFill>
          <a:blip r:embed="rId2"/>
          <a:stretch>
            <a:fillRect/>
          </a:stretch>
        </p:blipFill>
        <p:spPr>
          <a:xfrm>
            <a:off x="1309926" y="5054322"/>
            <a:ext cx="604599" cy="1143000"/>
          </a:xfrm>
          <a:prstGeom prst="rect">
            <a:avLst/>
          </a:prstGeom>
        </p:spPr>
      </p:pic>
      <p:sp>
        <p:nvSpPr>
          <p:cNvPr id="11" name="Text 6">
            <a:extLst>
              <a:ext uri="{FF2B5EF4-FFF2-40B4-BE49-F238E27FC236}">
                <a16:creationId xmlns:a16="http://schemas.microsoft.com/office/drawing/2014/main" id="{46CFB611-9CA5-F28A-897A-28FF5EBADEA7}"/>
              </a:ext>
            </a:extLst>
          </p:cNvPr>
          <p:cNvSpPr/>
          <p:nvPr/>
        </p:nvSpPr>
        <p:spPr>
          <a:xfrm>
            <a:off x="2115979" y="5255776"/>
            <a:ext cx="2519243"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GPU Acceleration</a:t>
            </a:r>
            <a:endParaRPr lang="en-US" sz="1950" dirty="0"/>
          </a:p>
        </p:txBody>
      </p:sp>
      <p:sp>
        <p:nvSpPr>
          <p:cNvPr id="12" name="Text 7">
            <a:extLst>
              <a:ext uri="{FF2B5EF4-FFF2-40B4-BE49-F238E27FC236}">
                <a16:creationId xmlns:a16="http://schemas.microsoft.com/office/drawing/2014/main" id="{14D0AA3D-67D9-DE4B-4DE9-D1538777766E}"/>
              </a:ext>
            </a:extLst>
          </p:cNvPr>
          <p:cNvSpPr/>
          <p:nvPr/>
        </p:nvSpPr>
        <p:spPr>
          <a:xfrm>
            <a:off x="2115979" y="5691545"/>
            <a:ext cx="11809095"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Integrate CUDA or OpenACC for heterogeneous computing and further performance gains.</a:t>
            </a:r>
            <a:endParaRPr lang="en-US" sz="1550" dirty="0"/>
          </a:p>
        </p:txBody>
      </p:sp>
      <p:pic>
        <p:nvPicPr>
          <p:cNvPr id="13" name="Image 3" descr="preencoded.png">
            <a:extLst>
              <a:ext uri="{FF2B5EF4-FFF2-40B4-BE49-F238E27FC236}">
                <a16:creationId xmlns:a16="http://schemas.microsoft.com/office/drawing/2014/main" id="{CC58FE65-3E87-3264-5691-3BD9C8268F4B}"/>
              </a:ext>
            </a:extLst>
          </p:cNvPr>
          <p:cNvPicPr>
            <a:picLocks noChangeAspect="1"/>
          </p:cNvPicPr>
          <p:nvPr/>
        </p:nvPicPr>
        <p:blipFill>
          <a:blip r:embed="rId2"/>
          <a:stretch>
            <a:fillRect/>
          </a:stretch>
        </p:blipFill>
        <p:spPr>
          <a:xfrm>
            <a:off x="1612225" y="6464975"/>
            <a:ext cx="604599" cy="1143000"/>
          </a:xfrm>
          <a:prstGeom prst="rect">
            <a:avLst/>
          </a:prstGeom>
        </p:spPr>
      </p:pic>
      <p:sp>
        <p:nvSpPr>
          <p:cNvPr id="14" name="Text 8">
            <a:extLst>
              <a:ext uri="{FF2B5EF4-FFF2-40B4-BE49-F238E27FC236}">
                <a16:creationId xmlns:a16="http://schemas.microsoft.com/office/drawing/2014/main" id="{CC8CE24F-8710-5753-981D-48880E213DC2}"/>
              </a:ext>
            </a:extLst>
          </p:cNvPr>
          <p:cNvSpPr/>
          <p:nvPr/>
        </p:nvSpPr>
        <p:spPr>
          <a:xfrm>
            <a:off x="2418278" y="6666428"/>
            <a:ext cx="2865358"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Advanced Optimization</a:t>
            </a:r>
            <a:endParaRPr lang="en-US" sz="1950" dirty="0"/>
          </a:p>
        </p:txBody>
      </p:sp>
      <p:sp>
        <p:nvSpPr>
          <p:cNvPr id="15" name="Text 9">
            <a:extLst>
              <a:ext uri="{FF2B5EF4-FFF2-40B4-BE49-F238E27FC236}">
                <a16:creationId xmlns:a16="http://schemas.microsoft.com/office/drawing/2014/main" id="{7A9F1C3E-01CE-4745-30B0-CE342EA8CBE8}"/>
              </a:ext>
            </a:extLst>
          </p:cNvPr>
          <p:cNvSpPr/>
          <p:nvPr/>
        </p:nvSpPr>
        <p:spPr>
          <a:xfrm>
            <a:off x="2418278" y="7102197"/>
            <a:ext cx="11506795"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Refine load balancing algorithms and memory hierarchies for real-world datasets at scale.</a:t>
            </a:r>
            <a:endParaRPr lang="en-US" sz="1550" dirty="0"/>
          </a:p>
        </p:txBody>
      </p:sp>
    </p:spTree>
    <p:extLst>
      <p:ext uri="{BB962C8B-B14F-4D97-AF65-F5344CB8AC3E}">
        <p14:creationId xmlns:p14="http://schemas.microsoft.com/office/powerpoint/2010/main" val="2122371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1386</Words>
  <Application>Microsoft Office PowerPoint</Application>
  <PresentationFormat>Custom</PresentationFormat>
  <Paragraphs>177</Paragraphs>
  <Slides>20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Merriweather</vt:lpstr>
      <vt:lpstr>Merriweather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srivadana jasti</cp:lastModifiedBy>
  <cp:revision>2</cp:revision>
  <dcterms:created xsi:type="dcterms:W3CDTF">2025-10-26T16:16:28Z</dcterms:created>
  <dcterms:modified xsi:type="dcterms:W3CDTF">2025-10-26T16:39:52Z</dcterms:modified>
</cp:coreProperties>
</file>